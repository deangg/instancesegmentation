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2933"/>
                </a:solidFill>
                <a:latin typeface="Arial"/>
              </a:rPr>
              <a:t>Computer Vision-Driven Two-Stage Instance Segmentation of Post-Harvest Surface Defects in Apple and Tomato Using YOLO26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429000"/>
            <a:ext cx="146304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2606D"/>
                </a:solidFill>
                <a:latin typeface="Arial"/>
              </a:rPr>
              <a:t>CIPHER  |  Artificial Intelligence 2  |  AM3  |  Mapúa University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2606D"/>
                </a:solidFill>
                <a:latin typeface="Arial"/>
              </a:rPr>
              <a:t>Ralph Kevin G. Morales   Alexander Jann P. Espia   Deangelo James P. Largueza   Niel Francis M. Arligue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2606D"/>
                </a:solidFill>
                <a:latin typeface="Arial"/>
              </a:rPr>
              <a:t>Adviser: Dr. Lysa V. Comia   |   Final defense,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6692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3"/>
                </a:solidFill>
                <a:latin typeface="Arial"/>
              </a:rPr>
              <a:t>•  Post-harvest sorting depends on visible skin defects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3"/>
                </a:solidFill>
                <a:latin typeface="Arial"/>
              </a:rPr>
              <a:t>•  Public grading sets such as AFruitDB label the whole image with a grade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3"/>
                </a:solidFill>
                <a:latin typeface="Arial"/>
              </a:rPr>
              <a:t>•  A grade does not say where the defect is or how big it is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3"/>
                </a:solidFill>
                <a:latin typeface="Arial"/>
              </a:rPr>
              <a:t>•  Goal: outline every visible defect at pixel level and name its type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3"/>
                </a:solidFill>
                <a:latin typeface="Arial"/>
              </a:rPr>
              <a:t>•  Scope: apple and tomato photos in RGB</a:t>
            </a:r>
          </a:p>
        </p:txBody>
      </p:sp>
      <p:pic>
        <p:nvPicPr>
          <p:cNvPr id="7" name="Picture 6" descr="ground_truth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60982"/>
            <a:ext cx="5303520" cy="14959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754880"/>
            <a:ext cx="5303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2606D"/>
                </a:solidFill>
                <a:latin typeface="Arial"/>
              </a:rPr>
              <a:t>Team masks: orange bruise or discoloration, pink rot mold or decay, blue surface damage, green whole fruit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Why instance segmentation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66160" cy="3291840"/>
          </a:xfrm>
          <a:prstGeom prst="rect">
            <a:avLst/>
          </a:prstGeom>
          <a:solidFill>
            <a:srgbClr val="F5F7FA"/>
          </a:solidFill>
          <a:ln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F2933"/>
                </a:solidFill>
                <a:latin typeface="Arial"/>
              </a:rPr>
              <a:t>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3108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One label per image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Says grade 3 but not where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554480"/>
            <a:ext cx="3566160" cy="3291840"/>
          </a:xfrm>
          <a:prstGeom prst="rect">
            <a:avLst/>
          </a:prstGeom>
          <a:solidFill>
            <a:srgbClr val="F5F7FA"/>
          </a:solidFill>
          <a:ln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F2933"/>
                </a:solidFill>
                <a:latin typeface="Arial"/>
              </a:rPr>
              <a:t>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3108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One box per object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Box around a bruise still covers healthy skin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554480"/>
            <a:ext cx="3566160" cy="3291840"/>
          </a:xfrm>
          <a:prstGeom prst="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7373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2E7D32"/>
                </a:solidFill>
                <a:latin typeface="Arial"/>
              </a:rPr>
              <a:t>Instance segmentation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468880"/>
            <a:ext cx="3108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One mask per object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Exact defect pixels so area can be measured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2606D"/>
                </a:solidFill>
                <a:latin typeface="Arial"/>
              </a:rPr>
              <a:t>The professor's requirement: pixel-level precision. Our output is one mask per defect region.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Dataset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67665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28016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Train files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License or owner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AFruitDB grading photos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Mendeley Data, cited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Lab2Wild apple rot set [9]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843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Kaggle CC BY-NC-SA 4.0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Photos taken by the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CIPHER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Total apple training files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2,110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726 capture groups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Team Roboflow tomato 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1,313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CC BY 4.0 (declared)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463040"/>
            <a:ext cx="40233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Original AFruitDB grades are image labels only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All pixel masks were drawn by the team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Roboflow export adds up to 3 variants per photo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So 2,110 files are not 2,110 distinct photos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Tomato: 1,313 files from 459 capture groups, same process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Defect classes and annotation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69494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65176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Looks like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Train imgs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Train masks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bruise_discoloration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Smooth dark or discolored patch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rot_mold_decay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Soft collapsed or moldy tissue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620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surface_damage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Cut crack scar or dry spot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547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873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474720"/>
            <a:ext cx="69494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Polygons drawn in Roboflow and a SAM-assisted local tool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Every proposal reviewed and corrected by a member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Pilots began with five classes then merged rare ones into three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Excluded: shadows, glare, stems, speckles, normal ripening color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Every class has more than 300 training images</a:t>
            </a:r>
          </a:p>
        </p:txBody>
      </p:sp>
      <p:pic>
        <p:nvPicPr>
          <p:cNvPr id="8" name="Picture 7" descr="ground_truth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188665"/>
            <a:ext cx="3931920" cy="11090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Gallery of labeled defects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6</a:t>
            </a:r>
          </a:p>
        </p:txBody>
      </p:sp>
      <p:pic>
        <p:nvPicPr>
          <p:cNvPr id="6" name="Picture 5" descr="defect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559" y="1188720"/>
            <a:ext cx="5031842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Class balance and defect size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7</a:t>
            </a:r>
          </a:p>
        </p:txBody>
      </p:sp>
      <p:pic>
        <p:nvPicPr>
          <p:cNvPr id="6" name="Picture 5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81" y="1371600"/>
            <a:ext cx="11261557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4632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Every defect class has more than 570 training masks on each fruit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Median defect size: apple rot 48% of the fruit, tomato rot 3.5%, surface damage under 0.5% on both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Small masks are harder to segment, which matches the weaker tomato and surface damage scores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Splits and leakage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56692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097280"/>
                <a:gridCol w="155448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Split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Images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Capture groups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Use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2,110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726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Validation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Checkpoint choice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Final check once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Reserve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Never used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0" y="1463040"/>
            <a:ext cx="51206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Split by capture group so variants of one photo stay together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Exact pixel hashes checked across splits: no exact copies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545 training images have no defect and act as negatives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Augmentation only on training images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Test scores were never used to pick settings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Project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9</a:t>
            </a:r>
          </a:p>
        </p:txBody>
      </p:sp>
      <p:pic>
        <p:nvPicPr>
          <p:cNvPr id="6" name="Picture 5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7758"/>
            <a:ext cx="11429999" cy="23739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Two-stage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920240" cy="1188720"/>
          </a:xfrm>
          <a:prstGeom prst="rect">
            <a:avLst/>
          </a:prstGeom>
          <a:solidFill>
            <a:srgbClr val="F5F7FA"/>
          </a:solidFill>
          <a:ln>
            <a:solidFill>
              <a:srgbClr val="1F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1F2933"/>
                </a:solidFill>
                <a:latin typeface="Arial"/>
              </a:rPr>
              <a:t>Pretrained
YOLO26l-seg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14600" y="2286000"/>
            <a:ext cx="320040" cy="274320"/>
          </a:xfrm>
          <a:prstGeom prst="rightArrow">
            <a:avLst/>
          </a:prstGeom>
          <a:solidFill>
            <a:srgbClr val="52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360" y="1828800"/>
            <a:ext cx="1920240" cy="1188720"/>
          </a:xfrm>
          <a:prstGeom prst="rect">
            <a:avLst/>
          </a:prstGeom>
          <a:solidFill>
            <a:srgbClr val="F5F7FA"/>
          </a:solidFill>
          <a:ln>
            <a:solidFill>
              <a:srgbClr val="1F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1F2933"/>
                </a:solidFill>
                <a:latin typeface="Arial"/>
              </a:rPr>
              <a:t>Stage 1
whole fruit mask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46320" y="2286000"/>
            <a:ext cx="320040" cy="274320"/>
          </a:xfrm>
          <a:prstGeom prst="rightArrow">
            <a:avLst/>
          </a:prstGeom>
          <a:solidFill>
            <a:srgbClr val="52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12079" y="1828800"/>
            <a:ext cx="1920240" cy="1188720"/>
          </a:xfrm>
          <a:prstGeom prst="rect">
            <a:avLst/>
          </a:prstGeom>
          <a:solidFill>
            <a:srgbClr val="F5F7FA"/>
          </a:solidFill>
          <a:ln>
            <a:solidFill>
              <a:srgbClr val="1F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1F2933"/>
                </a:solidFill>
                <a:latin typeface="Arial"/>
              </a:rPr>
              <a:t>Stage 1
best.pt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78039" y="2286000"/>
            <a:ext cx="320040" cy="274320"/>
          </a:xfrm>
          <a:prstGeom prst="rightArrow">
            <a:avLst/>
          </a:prstGeom>
          <a:solidFill>
            <a:srgbClr val="52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43800" y="1828800"/>
            <a:ext cx="1920240" cy="1188720"/>
          </a:xfrm>
          <a:prstGeom prst="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1F2933"/>
                </a:solidFill>
                <a:latin typeface="Arial"/>
              </a:rPr>
              <a:t>Stage 2
3 defect classes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509760" y="2286000"/>
            <a:ext cx="320040" cy="274320"/>
          </a:xfrm>
          <a:prstGeom prst="rightArrow">
            <a:avLst/>
          </a:prstGeom>
          <a:solidFill>
            <a:srgbClr val="526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75519" y="1828800"/>
            <a:ext cx="1920240" cy="1188720"/>
          </a:xfrm>
          <a:prstGeom prst="rect">
            <a:avLst/>
          </a:prstGeom>
          <a:solidFill>
            <a:srgbClr val="F5F7FA"/>
          </a:solidFill>
          <a:ln>
            <a:solidFill>
              <a:srgbClr val="1F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1F2933"/>
                </a:solidFill>
                <a:latin typeface="Arial"/>
              </a:rPr>
              <a:t>App
fruit + defects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66160"/>
            <a:ext cx="10972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Stage 1 learns what an apple looks like on every training image, damaged or not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Stage 2 starts from Stage 1 weights, rebuilds the output head for 3 defects, new AdamW optimizer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Shared backbone and neck weights carry over so Stage 2 does not start from scratch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In the app Stage 1 also gives the fruit area for defect coverage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Two stages in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11</a:t>
            </a:r>
          </a:p>
        </p:txBody>
      </p:sp>
      <p:pic>
        <p:nvPicPr>
          <p:cNvPr id="6" name="Picture 5" descr="two_stage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234440"/>
            <a:ext cx="96012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Training settings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73152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468880"/>
                <a:gridCol w="24688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Setting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Stage 1 (Run 21)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Stage 2 (Run 22)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Start weights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yolo26l-seg.pt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Run 21 best.pt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Classes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apple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3 defects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Optimizer / lr0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SGD /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AdamW / 0.0005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Max epochs / patience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100 / 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300 / 30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Image size /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864 / 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864 / 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Schedule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cosine, 3 warmup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cosine, 3 warmup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Epochs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0" y="1463040"/>
            <a:ext cx="34747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Augment: flips, 10 degree rotation, small shift, scale and color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No Mosaic, MixUp or Copy-Paste to keep defect texture real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Ultralytics 8.4.126, AMP, seed 0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NVIDIA A100 80 GB on Colab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Run history: 24 runs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13</a:t>
            </a:r>
          </a:p>
        </p:txBody>
      </p:sp>
      <p:pic>
        <p:nvPicPr>
          <p:cNvPr id="6" name="Picture 5" descr="run_history_map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760" y="1280160"/>
            <a:ext cx="8382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What changed between runs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97840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926080"/>
                <a:gridCol w="822960"/>
                <a:gridCol w="2743200"/>
                <a:gridCol w="109728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Run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Data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mAP50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mAP50-95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Apple 5 classes, 252 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26n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First pilot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0.474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P2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Apple + 1 merged defect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26n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Merged defects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0.751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0.523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P5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Apple mango tomato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26s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Three fruits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0.526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Run 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Apple tomato + members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26s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Member photos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0.747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0.622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Run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Apple tomato 3,423 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26m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Bigger set and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0.715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0.598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Run 14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Apple 4 classes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26m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Apple only, single stage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0.714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0.558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Run 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Apple defects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26m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Two-stage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Run 22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Apple defects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26l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Two-stage, large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0.688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0.457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Run 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Tomato defects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26l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Two-stage, tomato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0.295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Run 26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Apple + tomato defects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26l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One model, both fruits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0.600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0.374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86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2606D"/>
                </a:solidFill>
                <a:latin typeface="Arial"/>
              </a:rPr>
              <a:t>Joint runs average in the easy whole-fruit classes. Runs 20 and 22 report the three defect classes only so their lower number does not mean a worse model.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Same data, defects only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15</a:t>
            </a:r>
          </a:p>
        </p:txBody>
      </p:sp>
      <p:pic>
        <p:nvPicPr>
          <p:cNvPr id="6" name="Picture 5" descr="defec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28216"/>
            <a:ext cx="6583680" cy="39502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554480"/>
            <a:ext cx="42976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Runs 14, 20, 22 use the same images and splits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Average defect mAP50 rose from 0.624 to 0.688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These runs also differ in size, optimizer and image size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So the gain is not proof that two stages alone helped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Stage 1 result: whole apple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47548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Validation (215 images)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Mask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Mask recall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98.6%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Mask mAP50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98.5%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Mask mAP50-95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98.5%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val_batch0_p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85900"/>
            <a:ext cx="603504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Stage 2 result: defects on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051560"/>
                <a:gridCol w="1051560"/>
                <a:gridCol w="1051560"/>
                <a:gridCol w="10515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Precision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mAP50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mAP50-95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Bruise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0.847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0.744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0.526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Rot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0.931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0.713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0.761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0.591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Surface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0.648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0.584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0.527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0.809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0.680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0.688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0.457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MaskP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81200"/>
            <a:ext cx="5303520" cy="35356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Confusion matrices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18</a:t>
            </a:r>
          </a:p>
        </p:txBody>
      </p:sp>
      <p:pic>
        <p:nvPicPr>
          <p:cNvPr id="6" name="Picture 5" descr="confusion_matrix_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" y="1280160"/>
            <a:ext cx="5364480" cy="4023360"/>
          </a:xfrm>
          <a:prstGeom prst="rect">
            <a:avLst/>
          </a:prstGeom>
        </p:spPr>
      </p:pic>
      <p:pic>
        <p:nvPicPr>
          <p:cNvPr id="7" name="Picture 6" descr="confusion_matrix_normaliz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880" y="1280160"/>
            <a:ext cx="536448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303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52606D"/>
                </a:solidFill>
                <a:latin typeface="Arial"/>
              </a:rPr>
              <a:t>Validation (215 images)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303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52606D"/>
                </a:solidFill>
                <a:latin typeface="Arial"/>
              </a:rPr>
              <a:t>Unseen test (79 images)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Columns are true classes. Main error: defects missed as background. Bruise and rot rarely confused (4% or less). Validation false alarms are mostly surface damage.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Learning curves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19</a:t>
            </a:r>
          </a:p>
        </p:txBody>
      </p:sp>
      <p:pic>
        <p:nvPicPr>
          <p:cNvPr id="6" name="Picture 5" descr="lear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97745"/>
            <a:ext cx="11429999" cy="31652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66344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Training loss falls smoothly. Validation mAP levels off after about 30 epochs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Early stopping ended the runs before a long decline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Tomato (Run 24) overfits: validation seg loss is lowest near epoch 26 then rises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Ultralytics results.png for every run is in runs/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Unseen test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6400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Validation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Test (79 images)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Mask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0.809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0.718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Mask recall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0.680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0.597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Mask mAP50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0.688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0.613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Mask mAP50-95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0.457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0.411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749039"/>
          <a:ext cx="64008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Val mAP50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Test mAP50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Bruise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Rot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0.761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0.732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Surface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0.527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0.511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0" y="1554480"/>
            <a:ext cx="438912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Test frozen before training and used once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Drop vs validation is expected: checkpoint was picked on validation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Almost all of the drop is bruise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Rot and surface damage hold steady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Small test set: one bruise miss moves recall about 4 points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Validation vs test per class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21</a:t>
            </a:r>
          </a:p>
        </p:txBody>
      </p:sp>
      <p:pic>
        <p:nvPicPr>
          <p:cNvPr id="6" name="Picture 5" descr="val_vs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94460"/>
            <a:ext cx="11430000" cy="3429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02920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Apple rot and surface damage hold on unseen images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Apple bruise drops the most: 0.777 on validation, 0.594 on test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Tomato drops on every class, mostly from low recall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Does the damaged share match?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22</a:t>
            </a:r>
          </a:p>
        </p:txBody>
      </p:sp>
      <p:pic>
        <p:nvPicPr>
          <p:cNvPr id="6" name="Picture 5" descr="coverage_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3610"/>
            <a:ext cx="7863840" cy="32849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463040"/>
            <a:ext cx="34747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Apple: r = 0.91, error 5.2 points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Tomato: r = 0.82, error 3.7 points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Most big errors are defects missed entirely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Mean pixel IoU: apple 0.58, tomato 0.41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Tomato: two-stage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64008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Tomato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Validation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Test (95 images)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Stage 1 whole tomato mAP50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0.966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Stage 2 precision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0.709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0.732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Stage 2 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Stage 2 mAP50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0.494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0.393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Stage 2 mAP50-95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0.295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023360"/>
          <a:ext cx="64008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146304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Test P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Test R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Test mAP50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Bruise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0.388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Rot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0.848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0.382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0.477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Surface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0.555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0" y="1554480"/>
            <a:ext cx="438912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Whole tomato is easy for Stage 1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When it marks a defect it is usually right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But it finds only about 38% of tomato defects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1,313 train files from 459 groups vs 2,110 from 726 for apple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Tomato confusion matrices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24</a:t>
            </a:r>
          </a:p>
        </p:txBody>
      </p:sp>
      <p:pic>
        <p:nvPicPr>
          <p:cNvPr id="6" name="Picture 5" descr="confusion_matrix_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" y="1280160"/>
            <a:ext cx="5364480" cy="4023360"/>
          </a:xfrm>
          <a:prstGeom prst="rect">
            <a:avLst/>
          </a:prstGeom>
        </p:spPr>
      </p:pic>
      <p:pic>
        <p:nvPicPr>
          <p:cNvPr id="7" name="Picture 6" descr="confusion_matrix_normaliz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880" y="1280160"/>
            <a:ext cx="536448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303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52606D"/>
                </a:solidFill>
                <a:latin typeface="Arial"/>
              </a:rPr>
              <a:t>Validation (132 images)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303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52606D"/>
                </a:solidFill>
                <a:latin typeface="Arial"/>
              </a:rPr>
              <a:t>Unseen test (95 images)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On test 52% to 57% of each defect class is missed as background. Defect classes are rarely confused (5% or less). Most false alarms are surface damage.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Tomato: best and worst test images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25</a:t>
            </a:r>
          </a:p>
        </p:txBody>
      </p:sp>
      <p:pic>
        <p:nvPicPr>
          <p:cNvPr id="6" name="Picture 5" descr="tomato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33897"/>
            <a:ext cx="11430000" cy="40987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5778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2606D"/>
                </a:solidFill>
                <a:latin typeface="Arial"/>
              </a:rPr>
              <a:t>Large rot regions are found with IoU above 0.9. Faint bruises that are only a slight color change are missed.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One model for both fruits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6949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80160"/>
                <a:gridCol w="128016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Test mask mAP50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Apple sep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Apple comb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Tomato sep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Tomato comb</a:t>
                      </a:r>
                    </a:p>
                  </a:txBody>
                  <a:tcPr>
                    <a:solidFill>
                      <a:srgbClr val="1F29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Bruise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0.411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0.388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Rot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0.732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0.849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0.477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0.442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Surface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0.511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0.497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0.613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0.586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0.393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0.352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657600"/>
            <a:ext cx="6949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2606D"/>
                </a:solidFill>
                <a:latin typeface="Arial"/>
              </a:rPr>
              <a:t>sep = separate model per fruit (Runs 22, 24). comb = one combined model (Runs 25, 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554480"/>
            <a:ext cx="3931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Level with separate models on validation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Slightly lower on test for both fruits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Apple rot up, apple bruise down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Gaps are within noise of a small test set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One model can serve both fruits at a small cost</a:t>
            </a:r>
          </a:p>
        </p:txBody>
      </p:sp>
      <p:pic>
        <p:nvPicPr>
          <p:cNvPr id="9" name="Picture 8" descr="separate_vs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082796"/>
            <a:ext cx="7223760" cy="216712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Good predictions on test images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27</a:t>
            </a:r>
          </a:p>
        </p:txBody>
      </p:sp>
      <p:pic>
        <p:nvPicPr>
          <p:cNvPr id="6" name="Picture 5" descr="good_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59" y="1280160"/>
            <a:ext cx="11048202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2606D"/>
                </a:solidFill>
                <a:latin typeface="Arial"/>
              </a:rPr>
              <a:t>Test images. Mean per-image pixel IoU over 62 test images with a defect: 0.583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Failure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28</a:t>
            </a:r>
          </a:p>
        </p:txBody>
      </p:sp>
      <p:pic>
        <p:nvPicPr>
          <p:cNvPr id="6" name="Picture 5" descr="failure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43659"/>
            <a:ext cx="7863840" cy="33193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554480"/>
            <a:ext cx="33832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Rot predicted as bruise on a discolored apple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Whole-fruit rot label not found by the model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Tiny surface damage missed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Edge mark predicted as surface damage on clean skin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Web application (Streamlit)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29</a:t>
            </a:r>
          </a:p>
        </p:txBody>
      </p:sp>
      <p:pic>
        <p:nvPicPr>
          <p:cNvPr id="6" name="Picture 5" descr="app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597" y="1280160"/>
            <a:ext cx="6321286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0" y="1463040"/>
            <a:ext cx="35661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Pick apple, tomato or the combined model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Upload a photo or use a sample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Colored masks with a legend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Defect share of the image and of the fruit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Confidence slider and class toggles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Download the result as PNG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•  Clear messages for bad files or no defects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Arial"/>
              </a:rPr>
              <a:t>•  Labels describe appearance only. The model does not diagnose disease or internal damage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Arial"/>
              </a:rPr>
              <a:t>•  Few image sources with mostly plain backgrounds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Arial"/>
              </a:rPr>
              <a:t>•  Small surface damage remains hard and lowers recall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Arial"/>
              </a:rPr>
              <a:t>•  Two-stage gain is not isolated from model size and settings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Arial"/>
              </a:rPr>
              <a:t>•  One annotator per image with review. No formal agreement score yet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Arial"/>
              </a:rPr>
              <a:t>•  Tomato recall is low: about half of its defects are missed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Conclusion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4864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Two-stage YOLO26l segments the whole apple almost perfectly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Apple defects reach 0.613 test mask mAP50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Rot is the most stable class and surface damage the hardest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Tomato reaches 0.393 test mAP50 with low recall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One combined model is close to two separate models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Working upload app for apple and tomato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3949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Arial"/>
              </a:rPr>
              <a:t>•  More small-defect examples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Arial"/>
              </a:rPr>
              <a:t>•  Controlled single-stage baseline with equal settings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Arial"/>
              </a:rPr>
              <a:t>•  Test on new sources and lighting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Arial"/>
              </a:rPr>
              <a:t>•  Measure agreement between annotators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Next steps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2933"/>
                </a:solidFill>
                <a:latin typeface="Arial"/>
              </a:rPr>
              <a:t>References and AI disclosure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CIPHER  |  AI2 AM3  |  Fruit Defect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2606D"/>
                </a:solidFill>
                <a:latin typeface="Arial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Arial"/>
              </a:rPr>
              <a:t>[1] Mojumdar et al., AFruitDB, Data in Brief 59, 2025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Arial"/>
              </a:rPr>
              <a:t>[5] Leiva, Rebeaud, Christen, apple scab with YOLO11, Plant Methods 22, 2026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Arial"/>
              </a:rPr>
              <a:t>[7] Kirillov et al., Segment Anything, ICCV 2023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Arial"/>
              </a:rPr>
              <a:t>[9] Nesteruk, Apple rotting segmentation problem in the wild, Kaggle, CC BY-NC-SA 4.0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Arial"/>
              </a:rPr>
              <a:t>[11] Ultralytics, YOLO26 documentation, 2026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Arial"/>
              </a:rPr>
              <a:t>Full IEEE reference list in the 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11064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2606D"/>
                </a:solidFill>
                <a:latin typeface="Arial"/>
              </a:rPr>
              <a:t>AI tools used: Claude (Anthropic) and OpenAI Codex for planning, explanation and code scaffolding. All outputs were checked by the team. Full transcripts are included in the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