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Grading photos say how good a fruit is but not where the damage is. We want the exact pixels of each visible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Classification gives one label. Detection gives a box. Segmentation gives the pixels, which is what a defect measurement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apple sources. Grades from AFruitDB were not used as targets. Every mask was drawn and reviewed by the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five defect classes. Two were rare and confused so we merged into three. Every SAM or Roboflow proposal was checked by a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capture group is all files from the same original photo. Groups never cross splits. The test set was touched once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 from Leiva et al. 2026 who trained YOLO11 on the fruit first and the disease second. We use YOLO26l.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images and splits for both stages. A100 80GB on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Pilots started at 0.47 mAP50. High overall numbers on joint runs came mostly from the whole-fruit classes. Different datasets are not controlled comparisons.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step in the project. Point out the class merge, the bigger model and the two-stage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fairest comparison we have. Same images and splits. It still changes more than one factor so we do not claim the gain is from two stages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1 is nearly perfect, which is expected for a large object with clear edges. It matters because Stage 2 starts from these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Bruise and rot score highest. Surface damage is hardest because it is small and low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column as the true class. Most errors are defects predicted as background, which means missed defects.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Losses fall steadily. Validation mAP flattens which is why early stopping ended the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one-time evaluation on 79 images the model never saw. Compare with validation to judge generalization.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Tomato is the weakest fruit. Fill in the two-stage tomato numbers after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is the team label. Right is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real misses. Do not hide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live demo here. Samples work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direct about these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F2933"/>
                </a:solidFill>
                <a:latin typeface="Arial"/>
              </a:rPr>
              <a:t>Two-Stage YOLO26 Instance Segmentation of Visible Post-Harvest Fruit Defects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429000"/>
            <a:ext cx="146304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CIPHER  |  Artificial Intelligence 2  |  AM3  |  Mapúa University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Ralph Kevin G. Morales   Alexander Jann P. Espia   Deangelo James P. Largueza   Niel Francis M. Arligue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Adviser: Dr. Lysa V. Comia   |   Final defense,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Post-harvest sorting depends on visible skin defects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Public grading sets such as AFruitDB label the whole image with a grade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A grade does not say where the defect is or how big it is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Goal: outline every visible defect at pixel level and name its type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Scope: apple and tomato photos in RGB</a:t>
            </a:r>
          </a:p>
        </p:txBody>
      </p:sp>
      <p:pic>
        <p:nvPicPr>
          <p:cNvPr id="7" name="Picture 6" descr="ground_truth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60982"/>
            <a:ext cx="5303520" cy="14959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54880"/>
            <a:ext cx="5303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2606D"/>
                </a:solidFill>
                <a:latin typeface="Arial"/>
              </a:rPr>
              <a:t>Team masks: orange bruise or discoloration, pink rot mold or decay, blue surface damage, green whole fruit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Why instance segmentation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566160" cy="329184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2933"/>
                </a:solidFill>
                <a:latin typeface="Arial"/>
              </a:rPr>
              <a:t>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label per image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Says grade 3 but not where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554480"/>
            <a:ext cx="3566160" cy="329184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2933"/>
                </a:solidFill>
                <a:latin typeface="Arial"/>
              </a:rPr>
              <a:t>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box per object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Box around a bruise still covers healthy skin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566160" cy="329184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2E7D32"/>
                </a:solidFill>
                <a:latin typeface="Arial"/>
              </a:rPr>
              <a:t>Instance segmentation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mask per object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Exact defect pixels so area can be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The professor's requirement: pixel-level precision. Our output is one mask per defect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Dataset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7665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files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License or owner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AFruitDB grading photos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Mendeley Data, cited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Lab2Wild apple rot set [9]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Kaggle CC BY-NC-SA 4.0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Photos taken by the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CIPHER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Total apple training files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2,110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726 capture groups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23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Original AFruitDB grades are image labels only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All pixel masks were drawn by the team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Roboflow export adds up to 3 variants per photo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So 2,110 files are not 2,110 distinct photos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Tomato set follows the same process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Defect classes and annotation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Looks like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imgs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masks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bruise_discoloration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Smooth dark or discolored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rot_mold_decay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Soft collapsed or moldy tissue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surface_damage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Cut crack scar or dry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6949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Polygons drawn in Roboflow and a SAM-assisted local tool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Every proposal reviewed and corrected by a member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Pilots began with five classes then merged rare ones into three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Excluded: shadows, glare, stems, speckles, normal ripening color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Every class has more than 300 training images</a:t>
            </a:r>
          </a:p>
        </p:txBody>
      </p:sp>
      <p:pic>
        <p:nvPicPr>
          <p:cNvPr id="8" name="Picture 7" descr="ground_truth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188665"/>
            <a:ext cx="3931920" cy="1109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Splits and leakage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97280"/>
                <a:gridCol w="155448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Images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Capture groups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Checkpoint choice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Final check once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Reserve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Never used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63040"/>
            <a:ext cx="51206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Split by capture group so variants of one photo stay together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Exact pixel hashes checked across splits: no overlap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545 training images have no defect and act as negatives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Augmentation only on training images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Test scores were never used to pick settings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Two-stage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Pretrained
YOLO26l-seg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1460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80360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1
whole fruit mask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4632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12079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1
best.pt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78039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1828800"/>
            <a:ext cx="1920240" cy="118872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2
3 defect classes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50976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19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App
fruit + defects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6616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Stage 1 learns what an apple looks like on every training image, damaged or not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Stage 2 starts from Stage 1 weights, rebuilds the output head for 3 defects, new AdamW optimizer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Shared backbone and neck weights carry over so Stage 2 does not start from scratch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In the app Stage 1 also gives the fruit area for defect coverage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Training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73152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4688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 1 (Run 21)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 2 (Run 22)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Start 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yolo26l-seg.pt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21 best.pt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Classes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Optimizer / lr0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SGD /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AdamW / 0.0005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Max epochs / patience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100 / 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300 / 30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Image size /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864 / 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864 / 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Schedule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cosine, 3 warmup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cosine, 3 warmup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Epochs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46304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Augment: flips, 10 degree rotation, small shift, scale and color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No Mosaic, MixUp or Copy-Paste to keep defect texture real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Ultralytics 8.4.126, AMP, seed 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NVIDIA A100 80 GB on Colab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Run history: 20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run_history_map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367" y="1280160"/>
            <a:ext cx="9878785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What changed between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97840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926080"/>
                <a:gridCol w="822960"/>
                <a:gridCol w="2743200"/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mAP50-95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5 classes, 252 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First 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+ 1 merged defect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Merged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0.751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mango tomato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Three fruits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tomato + members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Member photos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0.747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tomato 3,423 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Bigger set and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14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4 classes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only, single stage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0.714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0.558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defects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Two-stage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Two-stage, large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Joint runs average in the easy whole-fruit classes. Runs 20 and 22 report the three defect classes only so their lower number does not mean a worse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Same data, defects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defec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28216"/>
            <a:ext cx="6583680" cy="39502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554480"/>
            <a:ext cx="4297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Runs 14, 20, 22 use the same images and splits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Average defect mAP50 rose from 0.624 to 0.688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These runs also differ in size, optimizer and image size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So the gain is not proof that two stages alone helped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Stage 1 result: whole apple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4754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 (215 images)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recall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mAP50-95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al_batch0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485900"/>
            <a:ext cx="60350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Stage 2 result: defects on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51560"/>
                <a:gridCol w="1051560"/>
                <a:gridCol w="105156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mAP50-95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0.931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0.713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0.761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0.591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0.809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MaskPR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81200"/>
            <a:ext cx="5303520" cy="3535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Confusion matrices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confusion_matrix_normaliz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" y="1280160"/>
            <a:ext cx="5364480" cy="4023360"/>
          </a:xfrm>
          <a:prstGeom prst="rect">
            <a:avLst/>
          </a:prstGeom>
        </p:spPr>
      </p:pic>
      <p:pic>
        <p:nvPicPr>
          <p:cNvPr id="7" name="Picture 6" descr="confusion_matrix_normaliz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80" y="1280160"/>
            <a:ext cx="53644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303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Validation (215 images)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5303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Unseen test (79 images)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Columns are true classes. Main error: defects missed as background. Bruise and rot rarely confused (4% or less). Validation false alarms are mostly surface damage.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Learning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35124"/>
            <a:ext cx="1106424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Unseen test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(79 images)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recall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0.597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mAP50-95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64008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 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0.761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0.732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Test frozen before training and used once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Drop vs validation is expected: checkpoint was picked on validation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Almost all of the drop is bruise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Rot and surface damage hold steady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Small test set: one bruise miss moves recall about 4 points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Tomato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Tomato two-stage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1 fruit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defect precision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defect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defect mAP50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Earlier joint model (Run 11) on tomato validation: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Whole tomato 0.955 mAP50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Bruise 0.419, rot 0.597, surface 0.347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Fewer tomato defect examples than apple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Predictions vs ground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val_batch0_labe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486400" cy="4114800"/>
          </a:xfrm>
          <a:prstGeom prst="rect">
            <a:avLst/>
          </a:prstGeom>
        </p:spPr>
      </p:pic>
      <p:pic>
        <p:nvPicPr>
          <p:cNvPr id="7" name="Picture 6" descr="val_batch0_pr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4592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Failure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6949440" cy="484632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failure_cases.png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554480"/>
            <a:ext cx="39319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Small faint scars are missed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Unlabeled marks predicted as surface damage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Partly visible defects at the fruit edge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Masks smaller or larger than the labeled area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Web application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7315200" cy="484632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app_screenshot.png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46304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Pick apple or tomato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Upload a photo or use a sample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Colored masks with a legend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Defect share of the image and of the fruit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Confidence slider and class toggles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Download the result as PNG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Clear messages for bad files or no defects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Labels describe appearance only. The model does not diagnose disease or internal damage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Few image sources with mostly plain backgrounds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Small surface damage remains hard and lowers recall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Two-stage gain is not isolated from model size and settings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One annotator per image with review. No formal agreement score yet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Conclusion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Arial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Two-stage YOLO26l segments the whole apple almost perfectly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Defects reach 0.688 validation and 0.613 test mask mAP50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Rot is the most stable class and surface damage the hardest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Working upload app for apple and tomato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949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More small-defect examples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Controlled single-stage baseline with equal settings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Test on new sources and lighting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Measure agreement between annotators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Arial"/>
              </a:rPr>
              <a:t>Next steps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References and AI disclosure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[1] Mojumdar et al., AFruitDB, Data in Brief 59, 2025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[5] Leiva, Rebeaud, Christen, apple scab with YOLO11, Plant Methods 22, 2026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[7] Kirillov et al., Segment Anything, ICCV 2023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[9] Nesteruk, Apple rotting segmentation problem in the wild, Kaggle, CC BY-NC-SA 4.0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[11] Ultralytics, YOLO26 documentation, 2026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Full IEEE reference list in the paper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AI tools used: Claude (Anthropic) and OpenAI Codex for planning, explanation and code scaffolding. All outputs were checked by the team. Full transcripts are included in the submission.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