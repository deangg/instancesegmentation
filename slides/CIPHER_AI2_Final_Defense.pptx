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Grading photos say how good a fruit is but not where the damage is. We want the exact pixels of each visible defect.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Classification gives one label. Detection gives a box. Segmentation gives the pixels, which is what a defect measurement needs.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apple sources. Grades from AFruitDB were not used as targets. Every mask was drawn and reviewed by the team.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started with five defect classes. Two were rare and confused so we merged into three. Every SAM or Roboflow proposal was checked by a member.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team labels. Green outline is the whole fruit for Stage 1. Filled regions are the defect masks for Stage 2. Point out how small tomato and surface defects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Classes are balanced, each above 300 images. The size panel explains a lot: apple rot covers about half the fruit, tomato rot about 3.5%, surface damage under 0.5%.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capture group is all files from the same original photo. Groups never cross splits. The test set was touched once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two green boxes are the two training stages.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Idea from Leiva et al. 2026 who trained YOLO11 on the fruit first and the disease second. We use YOLO26l.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 outlines the fruit. Stage 2 outlines each defect. The app divides defect area by fruit area to report the damaged share.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images and splits for both stages. A100 80GB on Colab.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Pilots started at 0.47 mAP50. High overall numbers on joint runs came mostly from the whole-fruit classes. Different datasets are not controlled comparisons.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one step in the project. Point out the class merge, the bigger model and the two-stage switch.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fairest comparison we have. Same images and splits. It still changes more than one factor so we do not claim the gain is from two stages alone.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 is nearly perfect, which is expected for a large object with clear edges. It matters because Stage 2 starts from these weights.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Bruise and rot score highest. Surface damage is hardest because it is small and low contrast.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column as the true class. Most errors are defects predicted as background, which means missed defects.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Losses fall steadily. Validation mAP rises in the first 30 epochs then levels off, so early stopping ended the runs. Tomato Run 24 shows overfitting: validation seg loss lowest near epoch 26 then rising while training loss kept falling.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one-time evaluation on 79 images the model never saw. Compare with validation to judge generalization.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validation, dark is test, green is the apple test without near-duplicates. Bruise drops the most on apple once near-duplicates are removed.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found this ourselves after the test. Lab2Wild stores several photos of the same apple under different names, so our split by file ID did not catch them. We report both numbers and do not hide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 reports damaged share of the fruit. Each dot is one test image. Points on the line mean the app share matches the team label. Points on the bottom are missed defects.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Tomato is the weakest fruit. Precision is fine but recall is low: the model misses about half of the tomato defects. Tomato has fewer training files than apple.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reading as apple. Over half of each tomato defect class is missed as background. Classes are rarely confused with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is the team label, bottom is the model. Large rot is found well. Faint bruises on glossy skin are missed completely.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splits merged without reshuffling. Shared three defect names. Stage 1 learns apple and tomato so the fruit name comes from Stage 1. On test the separate models are slightly better. The gaps are small and each class has only 18 to 28 test images.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the team label. Right is the model.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real misses. Do not hide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live demo here. Samples work offline.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direct about these in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8.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6.png"/><Relationship Id="rId4"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828800"/>
            <a:ext cx="10515600" cy="1463040"/>
          </a:xfrm>
          <a:prstGeom prst="rect">
            <a:avLst/>
          </a:prstGeom>
          <a:noFill/>
        </p:spPr>
        <p:txBody>
          <a:bodyPr wrap="square" anchor="t">
            <a:spAutoFit/>
          </a:bodyPr>
          <a:lstStyle/>
          <a:p>
            <a:pPr algn="l">
              <a:spcAft>
                <a:spcPts val="800"/>
              </a:spcAft>
            </a:pPr>
            <a:r>
              <a:rPr sz="3600" b="1">
                <a:solidFill>
                  <a:srgbClr val="1F2933"/>
                </a:solidFill>
                <a:latin typeface="Arial"/>
              </a:rPr>
              <a:t>Two-Stage YOLO26 Instance Segmentation of Visible Post-Harvest Fruit Defects</a:t>
            </a:r>
          </a:p>
        </p:txBody>
      </p:sp>
      <p:sp>
        <p:nvSpPr>
          <p:cNvPr id="3" name="Rectangle 2"/>
          <p:cNvSpPr/>
          <p:nvPr/>
        </p:nvSpPr>
        <p:spPr>
          <a:xfrm>
            <a:off x="731520" y="3429000"/>
            <a:ext cx="1463040" cy="7315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749039"/>
            <a:ext cx="10058400" cy="1645920"/>
          </a:xfrm>
          <a:prstGeom prst="rect">
            <a:avLst/>
          </a:prstGeom>
          <a:noFill/>
        </p:spPr>
        <p:txBody>
          <a:bodyPr wrap="square" anchor="t">
            <a:spAutoFit/>
          </a:bodyPr>
          <a:lstStyle/>
          <a:p>
            <a:pPr algn="l">
              <a:spcAft>
                <a:spcPts val="800"/>
              </a:spcAft>
            </a:pPr>
            <a:r>
              <a:rPr sz="1600" b="0">
                <a:solidFill>
                  <a:srgbClr val="52606D"/>
                </a:solidFill>
                <a:latin typeface="Arial"/>
              </a:rPr>
              <a:t>CIPHER  |  Artificial Intelligence 2  |  AM3  |  Mapúa University</a:t>
            </a:r>
          </a:p>
          <a:p>
            <a:pPr algn="l">
              <a:spcAft>
                <a:spcPts val="800"/>
              </a:spcAft>
            </a:pPr>
            <a:r>
              <a:rPr sz="1600" b="0">
                <a:solidFill>
                  <a:srgbClr val="52606D"/>
                </a:solidFill>
                <a:latin typeface="Arial"/>
              </a:rPr>
              <a:t>Ralph Kevin G. Morales   Alexander Jann P. Espia   Deangelo James P. Largueza   Niel Francis M. Arligue</a:t>
            </a:r>
          </a:p>
          <a:p>
            <a:pPr algn="l">
              <a:spcAft>
                <a:spcPts val="800"/>
              </a:spcAft>
            </a:pPr>
            <a:r>
              <a:rPr sz="1600" b="0">
                <a:solidFill>
                  <a:srgbClr val="52606D"/>
                </a:solidFill>
                <a:latin typeface="Arial"/>
              </a:rPr>
              <a:t>Adviser: Dr. Lysa V. Comia   |   Final defense,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The problem</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a:t>
            </a:r>
          </a:p>
        </p:txBody>
      </p:sp>
      <p:sp>
        <p:nvSpPr>
          <p:cNvPr id="6" name="TextBox 5"/>
          <p:cNvSpPr txBox="1"/>
          <p:nvPr/>
        </p:nvSpPr>
        <p:spPr>
          <a:xfrm>
            <a:off x="548640" y="1371600"/>
            <a:ext cx="5669280" cy="4572000"/>
          </a:xfrm>
          <a:prstGeom prst="rect">
            <a:avLst/>
          </a:prstGeom>
          <a:noFill/>
        </p:spPr>
        <p:txBody>
          <a:bodyPr wrap="square" anchor="t">
            <a:spAutoFit/>
          </a:bodyPr>
          <a:lstStyle/>
          <a:p>
            <a:pPr algn="l">
              <a:spcAft>
                <a:spcPts val="800"/>
              </a:spcAft>
            </a:pPr>
            <a:r>
              <a:rPr sz="1800" b="0">
                <a:solidFill>
                  <a:srgbClr val="1F2933"/>
                </a:solidFill>
                <a:latin typeface="Arial"/>
              </a:rPr>
              <a:t>•  Post-harvest sorting depends on visible skin defects</a:t>
            </a:r>
          </a:p>
          <a:p>
            <a:pPr algn="l">
              <a:spcAft>
                <a:spcPts val="800"/>
              </a:spcAft>
            </a:pPr>
            <a:r>
              <a:rPr sz="1800" b="0">
                <a:solidFill>
                  <a:srgbClr val="1F2933"/>
                </a:solidFill>
                <a:latin typeface="Arial"/>
              </a:rPr>
              <a:t>•  Public grading sets such as AFruitDB label the whole image with a grade</a:t>
            </a:r>
          </a:p>
          <a:p>
            <a:pPr algn="l">
              <a:spcAft>
                <a:spcPts val="800"/>
              </a:spcAft>
            </a:pPr>
            <a:r>
              <a:rPr sz="1800" b="0">
                <a:solidFill>
                  <a:srgbClr val="1F2933"/>
                </a:solidFill>
                <a:latin typeface="Arial"/>
              </a:rPr>
              <a:t>•  A grade does not say where the defect is or how big it is</a:t>
            </a:r>
          </a:p>
          <a:p>
            <a:pPr algn="l">
              <a:spcAft>
                <a:spcPts val="800"/>
              </a:spcAft>
            </a:pPr>
            <a:r>
              <a:rPr sz="1800" b="0">
                <a:solidFill>
                  <a:srgbClr val="1F2933"/>
                </a:solidFill>
                <a:latin typeface="Arial"/>
              </a:rPr>
              <a:t>•  Goal: outline every visible defect at pixel level and name its type</a:t>
            </a:r>
          </a:p>
          <a:p>
            <a:pPr algn="l">
              <a:spcAft>
                <a:spcPts val="800"/>
              </a:spcAft>
            </a:pPr>
            <a:r>
              <a:rPr sz="1800" b="0">
                <a:solidFill>
                  <a:srgbClr val="1F2933"/>
                </a:solidFill>
                <a:latin typeface="Arial"/>
              </a:rPr>
              <a:t>•  Scope: apple and tomato photos in RGB</a:t>
            </a:r>
          </a:p>
        </p:txBody>
      </p:sp>
      <p:pic>
        <p:nvPicPr>
          <p:cNvPr id="7" name="Picture 6" descr="ground_truth_examples.png"/>
          <p:cNvPicPr>
            <a:picLocks noChangeAspect="1"/>
          </p:cNvPicPr>
          <p:nvPr/>
        </p:nvPicPr>
        <p:blipFill>
          <a:blip r:embed="rId3"/>
          <a:stretch>
            <a:fillRect/>
          </a:stretch>
        </p:blipFill>
        <p:spPr>
          <a:xfrm>
            <a:off x="6400800" y="2360982"/>
            <a:ext cx="5303520" cy="1495955"/>
          </a:xfrm>
          <a:prstGeom prst="rect">
            <a:avLst/>
          </a:prstGeom>
        </p:spPr>
      </p:pic>
      <p:sp>
        <p:nvSpPr>
          <p:cNvPr id="8" name="TextBox 7"/>
          <p:cNvSpPr txBox="1"/>
          <p:nvPr/>
        </p:nvSpPr>
        <p:spPr>
          <a:xfrm>
            <a:off x="6400800" y="4754880"/>
            <a:ext cx="5303520" cy="1097280"/>
          </a:xfrm>
          <a:prstGeom prst="rect">
            <a:avLst/>
          </a:prstGeom>
          <a:noFill/>
        </p:spPr>
        <p:txBody>
          <a:bodyPr wrap="square" anchor="t">
            <a:spAutoFit/>
          </a:bodyPr>
          <a:lstStyle/>
          <a:p>
            <a:pPr algn="l">
              <a:spcAft>
                <a:spcPts val="800"/>
              </a:spcAft>
            </a:pPr>
            <a:r>
              <a:rPr sz="1200" b="0">
                <a:solidFill>
                  <a:srgbClr val="52606D"/>
                </a:solidFill>
                <a:latin typeface="Arial"/>
              </a:rPr>
              <a:t>Team masks: orange bruise or discoloration, pink rot mold or decay, blue surface damage, green whole fruit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Why instance segmentation</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3</a:t>
            </a:r>
          </a:p>
        </p:txBody>
      </p:sp>
      <p:sp>
        <p:nvSpPr>
          <p:cNvPr id="6" name="Rectangle 5"/>
          <p:cNvSpPr/>
          <p:nvPr/>
        </p:nvSpPr>
        <p:spPr>
          <a:xfrm>
            <a:off x="548640" y="1554480"/>
            <a:ext cx="3566160" cy="3291840"/>
          </a:xfrm>
          <a:prstGeom prst="rect">
            <a:avLst/>
          </a:prstGeom>
          <a:solidFill>
            <a:srgbClr val="F5F7FA"/>
          </a:solidFill>
          <a:ln>
            <a:solidFill>
              <a:srgbClr val="CBD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3108960" cy="548640"/>
          </a:xfrm>
          <a:prstGeom prst="rect">
            <a:avLst/>
          </a:prstGeom>
          <a:noFill/>
        </p:spPr>
        <p:txBody>
          <a:bodyPr wrap="square" anchor="t">
            <a:spAutoFit/>
          </a:bodyPr>
          <a:lstStyle/>
          <a:p>
            <a:pPr algn="l">
              <a:spcAft>
                <a:spcPts val="800"/>
              </a:spcAft>
            </a:pPr>
            <a:r>
              <a:rPr sz="2000" b="1">
                <a:solidFill>
                  <a:srgbClr val="1F2933"/>
                </a:solidFill>
                <a:latin typeface="Arial"/>
              </a:rPr>
              <a:t>Classification</a:t>
            </a:r>
          </a:p>
        </p:txBody>
      </p:sp>
      <p:sp>
        <p:nvSpPr>
          <p:cNvPr id="8" name="TextBox 7"/>
          <p:cNvSpPr txBox="1"/>
          <p:nvPr/>
        </p:nvSpPr>
        <p:spPr>
          <a:xfrm>
            <a:off x="777240" y="2468880"/>
            <a:ext cx="3108960" cy="2194560"/>
          </a:xfrm>
          <a:prstGeom prst="rect">
            <a:avLst/>
          </a:prstGeom>
          <a:noFill/>
        </p:spPr>
        <p:txBody>
          <a:bodyPr wrap="square" anchor="t">
            <a:spAutoFit/>
          </a:bodyPr>
          <a:lstStyle/>
          <a:p>
            <a:pPr algn="l">
              <a:spcAft>
                <a:spcPts val="800"/>
              </a:spcAft>
            </a:pPr>
            <a:r>
              <a:rPr sz="1600" b="0">
                <a:solidFill>
                  <a:srgbClr val="1F2933"/>
                </a:solidFill>
                <a:latin typeface="Arial"/>
              </a:rPr>
              <a:t>One label per image</a:t>
            </a:r>
          </a:p>
          <a:p>
            <a:pPr algn="l">
              <a:spcAft>
                <a:spcPts val="800"/>
              </a:spcAft>
            </a:pPr>
            <a:r>
              <a:rPr sz="1600" b="0">
                <a:solidFill>
                  <a:srgbClr val="1F2933"/>
                </a:solidFill>
                <a:latin typeface="Arial"/>
              </a:rPr>
              <a:t>Says grade 3 but not where</a:t>
            </a:r>
          </a:p>
        </p:txBody>
      </p:sp>
      <p:sp>
        <p:nvSpPr>
          <p:cNvPr id="9" name="Rectangle 8"/>
          <p:cNvSpPr/>
          <p:nvPr/>
        </p:nvSpPr>
        <p:spPr>
          <a:xfrm>
            <a:off x="4343400" y="1554480"/>
            <a:ext cx="3566160" cy="3291840"/>
          </a:xfrm>
          <a:prstGeom prst="rect">
            <a:avLst/>
          </a:prstGeom>
          <a:solidFill>
            <a:srgbClr val="F5F7FA"/>
          </a:solidFill>
          <a:ln>
            <a:solidFill>
              <a:srgbClr val="CBD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737360"/>
            <a:ext cx="3108960" cy="548640"/>
          </a:xfrm>
          <a:prstGeom prst="rect">
            <a:avLst/>
          </a:prstGeom>
          <a:noFill/>
        </p:spPr>
        <p:txBody>
          <a:bodyPr wrap="square" anchor="t">
            <a:spAutoFit/>
          </a:bodyPr>
          <a:lstStyle/>
          <a:p>
            <a:pPr algn="l">
              <a:spcAft>
                <a:spcPts val="800"/>
              </a:spcAft>
            </a:pPr>
            <a:r>
              <a:rPr sz="2000" b="1">
                <a:solidFill>
                  <a:srgbClr val="1F2933"/>
                </a:solidFill>
                <a:latin typeface="Arial"/>
              </a:rPr>
              <a:t>Detection</a:t>
            </a:r>
          </a:p>
        </p:txBody>
      </p:sp>
      <p:sp>
        <p:nvSpPr>
          <p:cNvPr id="11" name="TextBox 10"/>
          <p:cNvSpPr txBox="1"/>
          <p:nvPr/>
        </p:nvSpPr>
        <p:spPr>
          <a:xfrm>
            <a:off x="4572000" y="2468880"/>
            <a:ext cx="3108960" cy="2194560"/>
          </a:xfrm>
          <a:prstGeom prst="rect">
            <a:avLst/>
          </a:prstGeom>
          <a:noFill/>
        </p:spPr>
        <p:txBody>
          <a:bodyPr wrap="square" anchor="t">
            <a:spAutoFit/>
          </a:bodyPr>
          <a:lstStyle/>
          <a:p>
            <a:pPr algn="l">
              <a:spcAft>
                <a:spcPts val="800"/>
              </a:spcAft>
            </a:pPr>
            <a:r>
              <a:rPr sz="1600" b="0">
                <a:solidFill>
                  <a:srgbClr val="1F2933"/>
                </a:solidFill>
                <a:latin typeface="Arial"/>
              </a:rPr>
              <a:t>One box per object</a:t>
            </a:r>
          </a:p>
          <a:p>
            <a:pPr algn="l">
              <a:spcAft>
                <a:spcPts val="800"/>
              </a:spcAft>
            </a:pPr>
            <a:r>
              <a:rPr sz="1600" b="0">
                <a:solidFill>
                  <a:srgbClr val="1F2933"/>
                </a:solidFill>
                <a:latin typeface="Arial"/>
              </a:rPr>
              <a:t>Box around a bruise still covers healthy skin</a:t>
            </a:r>
          </a:p>
        </p:txBody>
      </p:sp>
      <p:sp>
        <p:nvSpPr>
          <p:cNvPr id="12" name="Rectangle 11"/>
          <p:cNvSpPr/>
          <p:nvPr/>
        </p:nvSpPr>
        <p:spPr>
          <a:xfrm>
            <a:off x="8138160" y="1554480"/>
            <a:ext cx="3566160" cy="3291840"/>
          </a:xfrm>
          <a:prstGeom prst="rect">
            <a:avLst/>
          </a:prstGeom>
          <a:solidFill>
            <a:srgbClr val="E8F5E9"/>
          </a:solidFill>
          <a:ln>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737360"/>
            <a:ext cx="3108960" cy="548640"/>
          </a:xfrm>
          <a:prstGeom prst="rect">
            <a:avLst/>
          </a:prstGeom>
          <a:noFill/>
        </p:spPr>
        <p:txBody>
          <a:bodyPr wrap="square" anchor="t">
            <a:spAutoFit/>
          </a:bodyPr>
          <a:lstStyle/>
          <a:p>
            <a:pPr algn="l">
              <a:spcAft>
                <a:spcPts val="800"/>
              </a:spcAft>
            </a:pPr>
            <a:r>
              <a:rPr sz="2000" b="1">
                <a:solidFill>
                  <a:srgbClr val="2E7D32"/>
                </a:solidFill>
                <a:latin typeface="Arial"/>
              </a:rPr>
              <a:t>Instance segmentation</a:t>
            </a:r>
          </a:p>
        </p:txBody>
      </p:sp>
      <p:sp>
        <p:nvSpPr>
          <p:cNvPr id="14" name="TextBox 13"/>
          <p:cNvSpPr txBox="1"/>
          <p:nvPr/>
        </p:nvSpPr>
        <p:spPr>
          <a:xfrm>
            <a:off x="8366760" y="2468880"/>
            <a:ext cx="3108960" cy="2194560"/>
          </a:xfrm>
          <a:prstGeom prst="rect">
            <a:avLst/>
          </a:prstGeom>
          <a:noFill/>
        </p:spPr>
        <p:txBody>
          <a:bodyPr wrap="square" anchor="t">
            <a:spAutoFit/>
          </a:bodyPr>
          <a:lstStyle/>
          <a:p>
            <a:pPr algn="l">
              <a:spcAft>
                <a:spcPts val="800"/>
              </a:spcAft>
            </a:pPr>
            <a:r>
              <a:rPr sz="1600" b="0">
                <a:solidFill>
                  <a:srgbClr val="1F2933"/>
                </a:solidFill>
                <a:latin typeface="Arial"/>
              </a:rPr>
              <a:t>One mask per object</a:t>
            </a:r>
          </a:p>
          <a:p>
            <a:pPr algn="l">
              <a:spcAft>
                <a:spcPts val="800"/>
              </a:spcAft>
            </a:pPr>
            <a:r>
              <a:rPr sz="1600" b="0">
                <a:solidFill>
                  <a:srgbClr val="1F2933"/>
                </a:solidFill>
                <a:latin typeface="Arial"/>
              </a:rPr>
              <a:t>Exact defect pixels so area can be measured</a:t>
            </a:r>
          </a:p>
        </p:txBody>
      </p:sp>
      <p:sp>
        <p:nvSpPr>
          <p:cNvPr id="15" name="TextBox 14"/>
          <p:cNvSpPr txBox="1"/>
          <p:nvPr/>
        </p:nvSpPr>
        <p:spPr>
          <a:xfrm>
            <a:off x="548640" y="5212080"/>
            <a:ext cx="10972800" cy="731520"/>
          </a:xfrm>
          <a:prstGeom prst="rect">
            <a:avLst/>
          </a:prstGeom>
          <a:noFill/>
        </p:spPr>
        <p:txBody>
          <a:bodyPr wrap="square" anchor="t">
            <a:spAutoFit/>
          </a:bodyPr>
          <a:lstStyle/>
          <a:p>
            <a:pPr algn="l">
              <a:spcAft>
                <a:spcPts val="800"/>
              </a:spcAft>
            </a:pPr>
            <a:r>
              <a:rPr sz="1600" b="0">
                <a:solidFill>
                  <a:srgbClr val="52606D"/>
                </a:solidFill>
                <a:latin typeface="Arial"/>
              </a:rPr>
              <a:t>The professor's requirement: pixel-level precision. Our output is one mask per defect region.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Dataset sources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4</a:t>
            </a:r>
          </a:p>
        </p:txBody>
      </p:sp>
      <p:graphicFrame>
        <p:nvGraphicFramePr>
          <p:cNvPr id="6" name="Table 5"/>
          <p:cNvGraphicFramePr>
            <a:graphicFrameLocks noGrp="1"/>
          </p:cNvGraphicFramePr>
          <p:nvPr/>
        </p:nvGraphicFramePr>
        <p:xfrm>
          <a:off x="548640" y="1463040"/>
          <a:ext cx="6766560" cy="2304288"/>
        </p:xfrm>
        <a:graphic>
          <a:graphicData uri="http://schemas.openxmlformats.org/drawingml/2006/table">
            <a:tbl>
              <a:tblPr firstRow="1" bandRow="1">
                <a:tableStyleId>{5C22544A-7EE6-4342-B048-85BDC9FD1C3A}</a:tableStyleId>
              </a:tblPr>
              <a:tblGrid>
                <a:gridCol w="3108960"/>
                <a:gridCol w="1280160"/>
                <a:gridCol w="2377440"/>
              </a:tblGrid>
              <a:tr h="384048">
                <a:tc>
                  <a:txBody>
                    <a:bodyPr/>
                    <a:lstStyle/>
                    <a:p>
                      <a:pPr algn="l"/>
                      <a:r>
                        <a:rPr sz="1300" b="1">
                          <a:solidFill>
                            <a:srgbClr val="FFFFFF"/>
                          </a:solidFill>
                          <a:latin typeface="Arial"/>
                        </a:rPr>
                        <a:t>Source</a:t>
                      </a:r>
                    </a:p>
                  </a:txBody>
                  <a:tcPr>
                    <a:solidFill>
                      <a:srgbClr val="1F2933"/>
                    </a:solidFill>
                  </a:tcPr>
                </a:tc>
                <a:tc>
                  <a:txBody>
                    <a:bodyPr/>
                    <a:lstStyle/>
                    <a:p>
                      <a:pPr algn="ctr"/>
                      <a:r>
                        <a:rPr sz="1300" b="1">
                          <a:solidFill>
                            <a:srgbClr val="FFFFFF"/>
                          </a:solidFill>
                          <a:latin typeface="Arial"/>
                        </a:rPr>
                        <a:t>Train files</a:t>
                      </a:r>
                    </a:p>
                  </a:txBody>
                  <a:tcPr>
                    <a:solidFill>
                      <a:srgbClr val="1F2933"/>
                    </a:solidFill>
                  </a:tcPr>
                </a:tc>
                <a:tc>
                  <a:txBody>
                    <a:bodyPr/>
                    <a:lstStyle/>
                    <a:p>
                      <a:pPr algn="ctr"/>
                      <a:r>
                        <a:rPr sz="1300" b="1">
                          <a:solidFill>
                            <a:srgbClr val="FFFFFF"/>
                          </a:solidFill>
                          <a:latin typeface="Arial"/>
                        </a:rPr>
                        <a:t>License or owner</a:t>
                      </a:r>
                    </a:p>
                  </a:txBody>
                  <a:tcPr>
                    <a:solidFill>
                      <a:srgbClr val="1F2933"/>
                    </a:solidFill>
                  </a:tcPr>
                </a:tc>
              </a:tr>
              <a:tr h="384048">
                <a:tc>
                  <a:txBody>
                    <a:bodyPr/>
                    <a:lstStyle/>
                    <a:p>
                      <a:pPr algn="l"/>
                      <a:r>
                        <a:rPr sz="1300" b="0">
                          <a:solidFill>
                            <a:srgbClr val="1F2933"/>
                          </a:solidFill>
                          <a:latin typeface="Arial"/>
                        </a:rPr>
                        <a:t>AFruitDB grading photos [1]</a:t>
                      </a:r>
                    </a:p>
                  </a:txBody>
                  <a:tcPr>
                    <a:solidFill>
                      <a:srgbClr val="FFFFFF"/>
                    </a:solidFill>
                  </a:tcPr>
                </a:tc>
                <a:tc>
                  <a:txBody>
                    <a:bodyPr/>
                    <a:lstStyle/>
                    <a:p>
                      <a:pPr algn="ctr"/>
                      <a:r>
                        <a:rPr sz="1300" b="0">
                          <a:solidFill>
                            <a:srgbClr val="1F2933"/>
                          </a:solidFill>
                          <a:latin typeface="Arial"/>
                        </a:rPr>
                        <a:t>986</a:t>
                      </a:r>
                    </a:p>
                  </a:txBody>
                  <a:tcPr>
                    <a:solidFill>
                      <a:srgbClr val="FFFFFF"/>
                    </a:solidFill>
                  </a:tcPr>
                </a:tc>
                <a:tc>
                  <a:txBody>
                    <a:bodyPr/>
                    <a:lstStyle/>
                    <a:p>
                      <a:pPr algn="ctr"/>
                      <a:r>
                        <a:rPr sz="1300" b="0">
                          <a:solidFill>
                            <a:srgbClr val="1F2933"/>
                          </a:solidFill>
                          <a:latin typeface="Arial"/>
                        </a:rPr>
                        <a:t>Mendeley Data, cited</a:t>
                      </a:r>
                    </a:p>
                  </a:txBody>
                  <a:tcPr>
                    <a:solidFill>
                      <a:srgbClr val="FFFFFF"/>
                    </a:solidFill>
                  </a:tcPr>
                </a:tc>
              </a:tr>
              <a:tr h="384048">
                <a:tc>
                  <a:txBody>
                    <a:bodyPr/>
                    <a:lstStyle/>
                    <a:p>
                      <a:pPr algn="l"/>
                      <a:r>
                        <a:rPr sz="1300" b="0">
                          <a:solidFill>
                            <a:srgbClr val="1F2933"/>
                          </a:solidFill>
                          <a:latin typeface="Arial"/>
                        </a:rPr>
                        <a:t>Lab2Wild apple rot set [9]</a:t>
                      </a:r>
                    </a:p>
                  </a:txBody>
                  <a:tcPr>
                    <a:solidFill>
                      <a:srgbClr val="F5F7FA"/>
                    </a:solidFill>
                  </a:tcPr>
                </a:tc>
                <a:tc>
                  <a:txBody>
                    <a:bodyPr/>
                    <a:lstStyle/>
                    <a:p>
                      <a:pPr algn="ctr"/>
                      <a:r>
                        <a:rPr sz="1300" b="0">
                          <a:solidFill>
                            <a:srgbClr val="1F2933"/>
                          </a:solidFill>
                          <a:latin typeface="Arial"/>
                        </a:rPr>
                        <a:t>843</a:t>
                      </a:r>
                    </a:p>
                  </a:txBody>
                  <a:tcPr>
                    <a:solidFill>
                      <a:srgbClr val="F5F7FA"/>
                    </a:solidFill>
                  </a:tcPr>
                </a:tc>
                <a:tc>
                  <a:txBody>
                    <a:bodyPr/>
                    <a:lstStyle/>
                    <a:p>
                      <a:pPr algn="ctr"/>
                      <a:r>
                        <a:rPr sz="1300" b="0">
                          <a:solidFill>
                            <a:srgbClr val="1F2933"/>
                          </a:solidFill>
                          <a:latin typeface="Arial"/>
                        </a:rPr>
                        <a:t>Kaggle CC BY-NC-SA 4.0</a:t>
                      </a:r>
                    </a:p>
                  </a:txBody>
                  <a:tcPr>
                    <a:solidFill>
                      <a:srgbClr val="F5F7FA"/>
                    </a:solidFill>
                  </a:tcPr>
                </a:tc>
              </a:tr>
              <a:tr h="384048">
                <a:tc>
                  <a:txBody>
                    <a:bodyPr/>
                    <a:lstStyle/>
                    <a:p>
                      <a:pPr algn="l"/>
                      <a:r>
                        <a:rPr sz="1300" b="0">
                          <a:solidFill>
                            <a:srgbClr val="1F2933"/>
                          </a:solidFill>
                          <a:latin typeface="Arial"/>
                        </a:rPr>
                        <a:t>Photos taken by the team</a:t>
                      </a:r>
                    </a:p>
                  </a:txBody>
                  <a:tcPr>
                    <a:solidFill>
                      <a:srgbClr val="FFFFFF"/>
                    </a:solidFill>
                  </a:tcPr>
                </a:tc>
                <a:tc>
                  <a:txBody>
                    <a:bodyPr/>
                    <a:lstStyle/>
                    <a:p>
                      <a:pPr algn="ctr"/>
                      <a:r>
                        <a:rPr sz="1300" b="0">
                          <a:solidFill>
                            <a:srgbClr val="1F2933"/>
                          </a:solidFill>
                          <a:latin typeface="Arial"/>
                        </a:rPr>
                        <a:t>281</a:t>
                      </a:r>
                    </a:p>
                  </a:txBody>
                  <a:tcPr>
                    <a:solidFill>
                      <a:srgbClr val="FFFFFF"/>
                    </a:solidFill>
                  </a:tcPr>
                </a:tc>
                <a:tc>
                  <a:txBody>
                    <a:bodyPr/>
                    <a:lstStyle/>
                    <a:p>
                      <a:pPr algn="ctr"/>
                      <a:r>
                        <a:rPr sz="1300" b="0">
                          <a:solidFill>
                            <a:srgbClr val="1F2933"/>
                          </a:solidFill>
                          <a:latin typeface="Arial"/>
                        </a:rPr>
                        <a:t>CIPHER</a:t>
                      </a:r>
                    </a:p>
                  </a:txBody>
                  <a:tcPr>
                    <a:solidFill>
                      <a:srgbClr val="FFFFFF"/>
                    </a:solidFill>
                  </a:tcPr>
                </a:tc>
              </a:tr>
              <a:tr h="384048">
                <a:tc>
                  <a:txBody>
                    <a:bodyPr/>
                    <a:lstStyle/>
                    <a:p>
                      <a:pPr algn="l"/>
                      <a:r>
                        <a:rPr sz="1300" b="0">
                          <a:solidFill>
                            <a:srgbClr val="1F2933"/>
                          </a:solidFill>
                          <a:latin typeface="Arial"/>
                        </a:rPr>
                        <a:t>Total apple training files</a:t>
                      </a:r>
                    </a:p>
                  </a:txBody>
                  <a:tcPr>
                    <a:solidFill>
                      <a:srgbClr val="F5F7FA"/>
                    </a:solidFill>
                  </a:tcPr>
                </a:tc>
                <a:tc>
                  <a:txBody>
                    <a:bodyPr/>
                    <a:lstStyle/>
                    <a:p>
                      <a:pPr algn="ctr"/>
                      <a:r>
                        <a:rPr sz="1300" b="0">
                          <a:solidFill>
                            <a:srgbClr val="1F2933"/>
                          </a:solidFill>
                          <a:latin typeface="Arial"/>
                        </a:rPr>
                        <a:t>2,110</a:t>
                      </a:r>
                    </a:p>
                  </a:txBody>
                  <a:tcPr>
                    <a:solidFill>
                      <a:srgbClr val="F5F7FA"/>
                    </a:solidFill>
                  </a:tcPr>
                </a:tc>
                <a:tc>
                  <a:txBody>
                    <a:bodyPr/>
                    <a:lstStyle/>
                    <a:p>
                      <a:pPr algn="ctr"/>
                      <a:r>
                        <a:rPr sz="1300" b="0">
                          <a:solidFill>
                            <a:srgbClr val="1F2933"/>
                          </a:solidFill>
                          <a:latin typeface="Arial"/>
                        </a:rPr>
                        <a:t>726 capture groups</a:t>
                      </a:r>
                    </a:p>
                  </a:txBody>
                  <a:tcPr>
                    <a:solidFill>
                      <a:srgbClr val="F5F7FA"/>
                    </a:solidFill>
                  </a:tcPr>
                </a:tc>
              </a:tr>
              <a:tr h="384048">
                <a:tc>
                  <a:txBody>
                    <a:bodyPr/>
                    <a:lstStyle/>
                    <a:p>
                      <a:pPr algn="l"/>
                      <a:r>
                        <a:rPr sz="1300" b="0">
                          <a:solidFill>
                            <a:srgbClr val="1F2933"/>
                          </a:solidFill>
                          <a:latin typeface="Arial"/>
                        </a:rPr>
                        <a:t>Team Roboflow tomato project</a:t>
                      </a:r>
                    </a:p>
                  </a:txBody>
                  <a:tcPr>
                    <a:solidFill>
                      <a:srgbClr val="FFFFFF"/>
                    </a:solidFill>
                  </a:tcPr>
                </a:tc>
                <a:tc>
                  <a:txBody>
                    <a:bodyPr/>
                    <a:lstStyle/>
                    <a:p>
                      <a:pPr algn="ctr"/>
                      <a:r>
                        <a:rPr sz="1300" b="0">
                          <a:solidFill>
                            <a:srgbClr val="1F2933"/>
                          </a:solidFill>
                          <a:latin typeface="Arial"/>
                        </a:rPr>
                        <a:t>1,313</a:t>
                      </a:r>
                    </a:p>
                  </a:txBody>
                  <a:tcPr>
                    <a:solidFill>
                      <a:srgbClr val="FFFFFF"/>
                    </a:solidFill>
                  </a:tcPr>
                </a:tc>
                <a:tc>
                  <a:txBody>
                    <a:bodyPr/>
                    <a:lstStyle/>
                    <a:p>
                      <a:pPr algn="ctr"/>
                      <a:r>
                        <a:rPr sz="1300" b="0">
                          <a:solidFill>
                            <a:srgbClr val="1F2933"/>
                          </a:solidFill>
                          <a:latin typeface="Arial"/>
                        </a:rPr>
                        <a:t>CC BY 4.0 (declared)</a:t>
                      </a:r>
                    </a:p>
                  </a:txBody>
                  <a:tcPr>
                    <a:solidFill>
                      <a:srgbClr val="FFFFFF"/>
                    </a:solidFill>
                  </a:tcPr>
                </a:tc>
              </a:tr>
            </a:tbl>
          </a:graphicData>
        </a:graphic>
      </p:graphicFrame>
      <p:sp>
        <p:nvSpPr>
          <p:cNvPr id="7" name="TextBox 6"/>
          <p:cNvSpPr txBox="1"/>
          <p:nvPr/>
        </p:nvSpPr>
        <p:spPr>
          <a:xfrm>
            <a:off x="7680960" y="1463040"/>
            <a:ext cx="4023360" cy="4114800"/>
          </a:xfrm>
          <a:prstGeom prst="rect">
            <a:avLst/>
          </a:prstGeom>
          <a:noFill/>
        </p:spPr>
        <p:txBody>
          <a:bodyPr wrap="square" anchor="t">
            <a:spAutoFit/>
          </a:bodyPr>
          <a:lstStyle/>
          <a:p>
            <a:pPr algn="l">
              <a:spcAft>
                <a:spcPts val="800"/>
              </a:spcAft>
            </a:pPr>
            <a:r>
              <a:rPr sz="1600" b="0">
                <a:solidFill>
                  <a:srgbClr val="1F2933"/>
                </a:solidFill>
                <a:latin typeface="Arial"/>
              </a:rPr>
              <a:t>•  Original AFruitDB grades are image labels only</a:t>
            </a:r>
          </a:p>
          <a:p>
            <a:pPr algn="l">
              <a:spcAft>
                <a:spcPts val="800"/>
              </a:spcAft>
            </a:pPr>
            <a:r>
              <a:rPr sz="1600" b="0">
                <a:solidFill>
                  <a:srgbClr val="1F2933"/>
                </a:solidFill>
                <a:latin typeface="Arial"/>
              </a:rPr>
              <a:t>•  All pixel masks were drawn by the team</a:t>
            </a:r>
          </a:p>
          <a:p>
            <a:pPr algn="l">
              <a:spcAft>
                <a:spcPts val="800"/>
              </a:spcAft>
            </a:pPr>
            <a:r>
              <a:rPr sz="1600" b="0">
                <a:solidFill>
                  <a:srgbClr val="1F2933"/>
                </a:solidFill>
                <a:latin typeface="Arial"/>
              </a:rPr>
              <a:t>•  Roboflow export adds up to 3 variants per photo</a:t>
            </a:r>
          </a:p>
          <a:p>
            <a:pPr algn="l">
              <a:spcAft>
                <a:spcPts val="800"/>
              </a:spcAft>
            </a:pPr>
            <a:r>
              <a:rPr sz="1600" b="0">
                <a:solidFill>
                  <a:srgbClr val="1F2933"/>
                </a:solidFill>
                <a:latin typeface="Arial"/>
              </a:rPr>
              <a:t>•  So 2,110 files are not 2,110 distinct photos</a:t>
            </a:r>
          </a:p>
          <a:p>
            <a:pPr algn="l">
              <a:spcAft>
                <a:spcPts val="800"/>
              </a:spcAft>
            </a:pPr>
            <a:r>
              <a:rPr sz="1600" b="0">
                <a:solidFill>
                  <a:srgbClr val="1F2933"/>
                </a:solidFill>
                <a:latin typeface="Arial"/>
              </a:rPr>
              <a:t>•  Tomato: 1,313 files from 459 capture groups, same process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Defect classes and annotation</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5</a:t>
            </a:r>
          </a:p>
        </p:txBody>
      </p:sp>
      <p:graphicFrame>
        <p:nvGraphicFramePr>
          <p:cNvPr id="6" name="Table 5"/>
          <p:cNvGraphicFramePr>
            <a:graphicFrameLocks noGrp="1"/>
          </p:cNvGraphicFramePr>
          <p:nvPr/>
        </p:nvGraphicFramePr>
        <p:xfrm>
          <a:off x="548640" y="1463040"/>
          <a:ext cx="6949440" cy="1536192"/>
        </p:xfrm>
        <a:graphic>
          <a:graphicData uri="http://schemas.openxmlformats.org/drawingml/2006/table">
            <a:tbl>
              <a:tblPr firstRow="1" bandRow="1">
                <a:tableStyleId>{5C22544A-7EE6-4342-B048-85BDC9FD1C3A}</a:tableStyleId>
              </a:tblPr>
              <a:tblGrid>
                <a:gridCol w="2103120"/>
                <a:gridCol w="2651760"/>
                <a:gridCol w="1097280"/>
                <a:gridCol w="1097280"/>
              </a:tblGrid>
              <a:tr h="384048">
                <a:tc>
                  <a:txBody>
                    <a:bodyPr/>
                    <a:lstStyle/>
                    <a:p>
                      <a:pPr algn="l"/>
                      <a:r>
                        <a:rPr sz="1300" b="1">
                          <a:solidFill>
                            <a:srgbClr val="FFFFFF"/>
                          </a:solidFill>
                          <a:latin typeface="Arial"/>
                        </a:rPr>
                        <a:t>Class</a:t>
                      </a:r>
                    </a:p>
                  </a:txBody>
                  <a:tcPr>
                    <a:solidFill>
                      <a:srgbClr val="1F2933"/>
                    </a:solidFill>
                  </a:tcPr>
                </a:tc>
                <a:tc>
                  <a:txBody>
                    <a:bodyPr/>
                    <a:lstStyle/>
                    <a:p>
                      <a:pPr algn="ctr"/>
                      <a:r>
                        <a:rPr sz="1300" b="1">
                          <a:solidFill>
                            <a:srgbClr val="FFFFFF"/>
                          </a:solidFill>
                          <a:latin typeface="Arial"/>
                        </a:rPr>
                        <a:t>Looks like</a:t>
                      </a:r>
                    </a:p>
                  </a:txBody>
                  <a:tcPr>
                    <a:solidFill>
                      <a:srgbClr val="1F2933"/>
                    </a:solidFill>
                  </a:tcPr>
                </a:tc>
                <a:tc>
                  <a:txBody>
                    <a:bodyPr/>
                    <a:lstStyle/>
                    <a:p>
                      <a:pPr algn="ctr"/>
                      <a:r>
                        <a:rPr sz="1300" b="1">
                          <a:solidFill>
                            <a:srgbClr val="FFFFFF"/>
                          </a:solidFill>
                          <a:latin typeface="Arial"/>
                        </a:rPr>
                        <a:t>Train imgs</a:t>
                      </a:r>
                    </a:p>
                  </a:txBody>
                  <a:tcPr>
                    <a:solidFill>
                      <a:srgbClr val="1F2933"/>
                    </a:solidFill>
                  </a:tcPr>
                </a:tc>
                <a:tc>
                  <a:txBody>
                    <a:bodyPr/>
                    <a:lstStyle/>
                    <a:p>
                      <a:pPr algn="ctr"/>
                      <a:r>
                        <a:rPr sz="1300" b="1">
                          <a:solidFill>
                            <a:srgbClr val="FFFFFF"/>
                          </a:solidFill>
                          <a:latin typeface="Arial"/>
                        </a:rPr>
                        <a:t>Train masks</a:t>
                      </a:r>
                    </a:p>
                  </a:txBody>
                  <a:tcPr>
                    <a:solidFill>
                      <a:srgbClr val="1F2933"/>
                    </a:solidFill>
                  </a:tcPr>
                </a:tc>
              </a:tr>
              <a:tr h="384048">
                <a:tc>
                  <a:txBody>
                    <a:bodyPr/>
                    <a:lstStyle/>
                    <a:p>
                      <a:pPr algn="l"/>
                      <a:r>
                        <a:rPr sz="1300" b="0">
                          <a:solidFill>
                            <a:srgbClr val="1F2933"/>
                          </a:solidFill>
                          <a:latin typeface="Arial"/>
                        </a:rPr>
                        <a:t>bruise_discoloration</a:t>
                      </a:r>
                    </a:p>
                  </a:txBody>
                  <a:tcPr>
                    <a:solidFill>
                      <a:srgbClr val="FFFFFF"/>
                    </a:solidFill>
                  </a:tcPr>
                </a:tc>
                <a:tc>
                  <a:txBody>
                    <a:bodyPr/>
                    <a:lstStyle/>
                    <a:p>
                      <a:pPr algn="ctr"/>
                      <a:r>
                        <a:rPr sz="1300" b="0">
                          <a:solidFill>
                            <a:srgbClr val="1F2933"/>
                          </a:solidFill>
                          <a:latin typeface="Arial"/>
                        </a:rPr>
                        <a:t>Smooth dark or discolored patch</a:t>
                      </a:r>
                    </a:p>
                  </a:txBody>
                  <a:tcPr>
                    <a:solidFill>
                      <a:srgbClr val="FFFFFF"/>
                    </a:solidFill>
                  </a:tcPr>
                </a:tc>
                <a:tc>
                  <a:txBody>
                    <a:bodyPr/>
                    <a:lstStyle/>
                    <a:p>
                      <a:pPr algn="ctr"/>
                      <a:r>
                        <a:rPr sz="1300" b="0">
                          <a:solidFill>
                            <a:srgbClr val="1F2933"/>
                          </a:solidFill>
                          <a:latin typeface="Arial"/>
                        </a:rPr>
                        <a:t>607</a:t>
                      </a:r>
                    </a:p>
                  </a:txBody>
                  <a:tcPr>
                    <a:solidFill>
                      <a:srgbClr val="FFFFFF"/>
                    </a:solidFill>
                  </a:tcPr>
                </a:tc>
                <a:tc>
                  <a:txBody>
                    <a:bodyPr/>
                    <a:lstStyle/>
                    <a:p>
                      <a:pPr algn="ctr"/>
                      <a:r>
                        <a:rPr sz="1300" b="0">
                          <a:solidFill>
                            <a:srgbClr val="1F2933"/>
                          </a:solidFill>
                          <a:latin typeface="Arial"/>
                        </a:rPr>
                        <a:t>709</a:t>
                      </a:r>
                    </a:p>
                  </a:txBody>
                  <a:tcPr>
                    <a:solidFill>
                      <a:srgbClr val="FFFFFF"/>
                    </a:solidFill>
                  </a:tcPr>
                </a:tc>
              </a:tr>
              <a:tr h="384048">
                <a:tc>
                  <a:txBody>
                    <a:bodyPr/>
                    <a:lstStyle/>
                    <a:p>
                      <a:pPr algn="l"/>
                      <a:r>
                        <a:rPr sz="1300" b="0">
                          <a:solidFill>
                            <a:srgbClr val="1F2933"/>
                          </a:solidFill>
                          <a:latin typeface="Arial"/>
                        </a:rPr>
                        <a:t>rot_mold_decay</a:t>
                      </a:r>
                    </a:p>
                  </a:txBody>
                  <a:tcPr>
                    <a:solidFill>
                      <a:srgbClr val="F5F7FA"/>
                    </a:solidFill>
                  </a:tcPr>
                </a:tc>
                <a:tc>
                  <a:txBody>
                    <a:bodyPr/>
                    <a:lstStyle/>
                    <a:p>
                      <a:pPr algn="ctr"/>
                      <a:r>
                        <a:rPr sz="1300" b="0">
                          <a:solidFill>
                            <a:srgbClr val="1F2933"/>
                          </a:solidFill>
                          <a:latin typeface="Arial"/>
                        </a:rPr>
                        <a:t>Soft collapsed or moldy tissue</a:t>
                      </a:r>
                    </a:p>
                  </a:txBody>
                  <a:tcPr>
                    <a:solidFill>
                      <a:srgbClr val="F5F7FA"/>
                    </a:solidFill>
                  </a:tcPr>
                </a:tc>
                <a:tc>
                  <a:txBody>
                    <a:bodyPr/>
                    <a:lstStyle/>
                    <a:p>
                      <a:pPr algn="ctr"/>
                      <a:r>
                        <a:rPr sz="1300" b="0">
                          <a:solidFill>
                            <a:srgbClr val="1F2933"/>
                          </a:solidFill>
                          <a:latin typeface="Arial"/>
                        </a:rPr>
                        <a:t>620</a:t>
                      </a:r>
                    </a:p>
                  </a:txBody>
                  <a:tcPr>
                    <a:solidFill>
                      <a:srgbClr val="F5F7FA"/>
                    </a:solidFill>
                  </a:tcPr>
                </a:tc>
                <a:tc>
                  <a:txBody>
                    <a:bodyPr/>
                    <a:lstStyle/>
                    <a:p>
                      <a:pPr algn="ctr"/>
                      <a:r>
                        <a:rPr sz="1300" b="0">
                          <a:solidFill>
                            <a:srgbClr val="1F2933"/>
                          </a:solidFill>
                          <a:latin typeface="Arial"/>
                        </a:rPr>
                        <a:t>697</a:t>
                      </a:r>
                    </a:p>
                  </a:txBody>
                  <a:tcPr>
                    <a:solidFill>
                      <a:srgbClr val="F5F7FA"/>
                    </a:solidFill>
                  </a:tcPr>
                </a:tc>
              </a:tr>
              <a:tr h="384048">
                <a:tc>
                  <a:txBody>
                    <a:bodyPr/>
                    <a:lstStyle/>
                    <a:p>
                      <a:pPr algn="l"/>
                      <a:r>
                        <a:rPr sz="1300" b="0">
                          <a:solidFill>
                            <a:srgbClr val="1F2933"/>
                          </a:solidFill>
                          <a:latin typeface="Arial"/>
                        </a:rPr>
                        <a:t>surface_damage</a:t>
                      </a:r>
                    </a:p>
                  </a:txBody>
                  <a:tcPr>
                    <a:solidFill>
                      <a:srgbClr val="FFFFFF"/>
                    </a:solidFill>
                  </a:tcPr>
                </a:tc>
                <a:tc>
                  <a:txBody>
                    <a:bodyPr/>
                    <a:lstStyle/>
                    <a:p>
                      <a:pPr algn="ctr"/>
                      <a:r>
                        <a:rPr sz="1300" b="0">
                          <a:solidFill>
                            <a:srgbClr val="1F2933"/>
                          </a:solidFill>
                          <a:latin typeface="Arial"/>
                        </a:rPr>
                        <a:t>Cut crack scar or dry spot</a:t>
                      </a:r>
                    </a:p>
                  </a:txBody>
                  <a:tcPr>
                    <a:solidFill>
                      <a:srgbClr val="FFFFFF"/>
                    </a:solidFill>
                  </a:tcPr>
                </a:tc>
                <a:tc>
                  <a:txBody>
                    <a:bodyPr/>
                    <a:lstStyle/>
                    <a:p>
                      <a:pPr algn="ctr"/>
                      <a:r>
                        <a:rPr sz="1300" b="0">
                          <a:solidFill>
                            <a:srgbClr val="1F2933"/>
                          </a:solidFill>
                          <a:latin typeface="Arial"/>
                        </a:rPr>
                        <a:t>547</a:t>
                      </a:r>
                    </a:p>
                  </a:txBody>
                  <a:tcPr>
                    <a:solidFill>
                      <a:srgbClr val="FFFFFF"/>
                    </a:solidFill>
                  </a:tcPr>
                </a:tc>
                <a:tc>
                  <a:txBody>
                    <a:bodyPr/>
                    <a:lstStyle/>
                    <a:p>
                      <a:pPr algn="ctr"/>
                      <a:r>
                        <a:rPr sz="1300" b="0">
                          <a:solidFill>
                            <a:srgbClr val="1F2933"/>
                          </a:solidFill>
                          <a:latin typeface="Arial"/>
                        </a:rPr>
                        <a:t>873</a:t>
                      </a:r>
                    </a:p>
                  </a:txBody>
                  <a:tcPr>
                    <a:solidFill>
                      <a:srgbClr val="FFFFFF"/>
                    </a:solidFill>
                  </a:tcPr>
                </a:tc>
              </a:tr>
            </a:tbl>
          </a:graphicData>
        </a:graphic>
      </p:graphicFrame>
      <p:sp>
        <p:nvSpPr>
          <p:cNvPr id="7" name="TextBox 6"/>
          <p:cNvSpPr txBox="1"/>
          <p:nvPr/>
        </p:nvSpPr>
        <p:spPr>
          <a:xfrm>
            <a:off x="548640" y="3474720"/>
            <a:ext cx="6949440" cy="2743200"/>
          </a:xfrm>
          <a:prstGeom prst="rect">
            <a:avLst/>
          </a:prstGeom>
          <a:noFill/>
        </p:spPr>
        <p:txBody>
          <a:bodyPr wrap="square" anchor="t">
            <a:spAutoFit/>
          </a:bodyPr>
          <a:lstStyle/>
          <a:p>
            <a:pPr algn="l">
              <a:spcAft>
                <a:spcPts val="800"/>
              </a:spcAft>
            </a:pPr>
            <a:r>
              <a:rPr sz="1500" b="0">
                <a:solidFill>
                  <a:srgbClr val="1F2933"/>
                </a:solidFill>
                <a:latin typeface="Arial"/>
              </a:rPr>
              <a:t>•  Polygons drawn in Roboflow and a SAM-assisted local tool</a:t>
            </a:r>
          </a:p>
          <a:p>
            <a:pPr algn="l">
              <a:spcAft>
                <a:spcPts val="800"/>
              </a:spcAft>
            </a:pPr>
            <a:r>
              <a:rPr sz="1500" b="0">
                <a:solidFill>
                  <a:srgbClr val="1F2933"/>
                </a:solidFill>
                <a:latin typeface="Arial"/>
              </a:rPr>
              <a:t>•  Every proposal reviewed and corrected by a member</a:t>
            </a:r>
          </a:p>
          <a:p>
            <a:pPr algn="l">
              <a:spcAft>
                <a:spcPts val="800"/>
              </a:spcAft>
            </a:pPr>
            <a:r>
              <a:rPr sz="1500" b="0">
                <a:solidFill>
                  <a:srgbClr val="1F2933"/>
                </a:solidFill>
                <a:latin typeface="Arial"/>
              </a:rPr>
              <a:t>•  Pilots began with five classes then merged rare ones into three</a:t>
            </a:r>
          </a:p>
          <a:p>
            <a:pPr algn="l">
              <a:spcAft>
                <a:spcPts val="800"/>
              </a:spcAft>
            </a:pPr>
            <a:r>
              <a:rPr sz="1500" b="0">
                <a:solidFill>
                  <a:srgbClr val="1F2933"/>
                </a:solidFill>
                <a:latin typeface="Arial"/>
              </a:rPr>
              <a:t>•  Excluded: shadows, glare, stems, speckles, normal ripening color</a:t>
            </a:r>
          </a:p>
          <a:p>
            <a:pPr algn="l">
              <a:spcAft>
                <a:spcPts val="800"/>
              </a:spcAft>
            </a:pPr>
            <a:r>
              <a:rPr sz="1500" b="0">
                <a:solidFill>
                  <a:srgbClr val="1F2933"/>
                </a:solidFill>
                <a:latin typeface="Arial"/>
              </a:rPr>
              <a:t>•  Every class has more than 300 training images</a:t>
            </a:r>
          </a:p>
        </p:txBody>
      </p:sp>
      <p:pic>
        <p:nvPicPr>
          <p:cNvPr id="8" name="Picture 7" descr="ground_truth_examples.png"/>
          <p:cNvPicPr>
            <a:picLocks noChangeAspect="1"/>
          </p:cNvPicPr>
          <p:nvPr/>
        </p:nvPicPr>
        <p:blipFill>
          <a:blip r:embed="rId3"/>
          <a:stretch>
            <a:fillRect/>
          </a:stretch>
        </p:blipFill>
        <p:spPr>
          <a:xfrm>
            <a:off x="7772400" y="2188665"/>
            <a:ext cx="3931920" cy="110907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Gallery of labeled defects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6</a:t>
            </a:r>
          </a:p>
        </p:txBody>
      </p:sp>
      <p:pic>
        <p:nvPicPr>
          <p:cNvPr id="6" name="Picture 5" descr="defect_gallery.png"/>
          <p:cNvPicPr>
            <a:picLocks noChangeAspect="1"/>
          </p:cNvPicPr>
          <p:nvPr/>
        </p:nvPicPr>
        <p:blipFill>
          <a:blip r:embed="rId3"/>
          <a:stretch>
            <a:fillRect/>
          </a:stretch>
        </p:blipFill>
        <p:spPr>
          <a:xfrm>
            <a:off x="3610559" y="1188720"/>
            <a:ext cx="5031842" cy="51206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Class balance and defect size</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7</a:t>
            </a:r>
          </a:p>
        </p:txBody>
      </p:sp>
      <p:pic>
        <p:nvPicPr>
          <p:cNvPr id="6" name="Picture 5" descr="class_distribution.png"/>
          <p:cNvPicPr>
            <a:picLocks noChangeAspect="1"/>
          </p:cNvPicPr>
          <p:nvPr/>
        </p:nvPicPr>
        <p:blipFill>
          <a:blip r:embed="rId3"/>
          <a:stretch>
            <a:fillRect/>
          </a:stretch>
        </p:blipFill>
        <p:spPr>
          <a:xfrm>
            <a:off x="449981" y="1371600"/>
            <a:ext cx="11261557" cy="3291840"/>
          </a:xfrm>
          <a:prstGeom prst="rect">
            <a:avLst/>
          </a:prstGeom>
        </p:spPr>
      </p:pic>
      <p:sp>
        <p:nvSpPr>
          <p:cNvPr id="7" name="TextBox 6"/>
          <p:cNvSpPr txBox="1"/>
          <p:nvPr/>
        </p:nvSpPr>
        <p:spPr>
          <a:xfrm>
            <a:off x="548640" y="4846320"/>
            <a:ext cx="10972800" cy="1371600"/>
          </a:xfrm>
          <a:prstGeom prst="rect">
            <a:avLst/>
          </a:prstGeom>
          <a:noFill/>
        </p:spPr>
        <p:txBody>
          <a:bodyPr wrap="square" anchor="t">
            <a:spAutoFit/>
          </a:bodyPr>
          <a:lstStyle/>
          <a:p>
            <a:pPr algn="l">
              <a:spcAft>
                <a:spcPts val="800"/>
              </a:spcAft>
            </a:pPr>
            <a:r>
              <a:rPr sz="1500" b="0">
                <a:solidFill>
                  <a:srgbClr val="1F2933"/>
                </a:solidFill>
                <a:latin typeface="Arial"/>
              </a:rPr>
              <a:t>•  Every defect class has more than 570 training masks on each fruit</a:t>
            </a:r>
          </a:p>
          <a:p>
            <a:pPr algn="l">
              <a:spcAft>
                <a:spcPts val="800"/>
              </a:spcAft>
            </a:pPr>
            <a:r>
              <a:rPr sz="1500" b="0">
                <a:solidFill>
                  <a:srgbClr val="1F2933"/>
                </a:solidFill>
                <a:latin typeface="Arial"/>
              </a:rPr>
              <a:t>•  Median defect size: apple rot 48% of the fruit, tomato rot 3.5%, surface damage under 0.5% on both</a:t>
            </a:r>
          </a:p>
          <a:p>
            <a:pPr algn="l">
              <a:spcAft>
                <a:spcPts val="800"/>
              </a:spcAft>
            </a:pPr>
            <a:r>
              <a:rPr sz="1500" b="0">
                <a:solidFill>
                  <a:srgbClr val="1F2933"/>
                </a:solidFill>
                <a:latin typeface="Arial"/>
              </a:rPr>
              <a:t>•  Small masks are harder to segment, which matches the weaker tomato and surface damage scores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Splits and leakage control</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8</a:t>
            </a:r>
          </a:p>
        </p:txBody>
      </p:sp>
      <p:graphicFrame>
        <p:nvGraphicFramePr>
          <p:cNvPr id="6" name="Table 5"/>
          <p:cNvGraphicFramePr>
            <a:graphicFrameLocks noGrp="1"/>
          </p:cNvGraphicFramePr>
          <p:nvPr/>
        </p:nvGraphicFramePr>
        <p:xfrm>
          <a:off x="548640" y="1463040"/>
          <a:ext cx="5669280" cy="1920240"/>
        </p:xfrm>
        <a:graphic>
          <a:graphicData uri="http://schemas.openxmlformats.org/drawingml/2006/table">
            <a:tbl>
              <a:tblPr firstRow="1" bandRow="1">
                <a:tableStyleId>{5C22544A-7EE6-4342-B048-85BDC9FD1C3A}</a:tableStyleId>
              </a:tblPr>
              <a:tblGrid>
                <a:gridCol w="1280160"/>
                <a:gridCol w="1097280"/>
                <a:gridCol w="1554480"/>
                <a:gridCol w="1737360"/>
              </a:tblGrid>
              <a:tr h="384048">
                <a:tc>
                  <a:txBody>
                    <a:bodyPr/>
                    <a:lstStyle/>
                    <a:p>
                      <a:pPr algn="l"/>
                      <a:r>
                        <a:rPr sz="1300" b="1">
                          <a:solidFill>
                            <a:srgbClr val="FFFFFF"/>
                          </a:solidFill>
                          <a:latin typeface="Arial"/>
                        </a:rPr>
                        <a:t>Split</a:t>
                      </a:r>
                    </a:p>
                  </a:txBody>
                  <a:tcPr>
                    <a:solidFill>
                      <a:srgbClr val="1F2933"/>
                    </a:solidFill>
                  </a:tcPr>
                </a:tc>
                <a:tc>
                  <a:txBody>
                    <a:bodyPr/>
                    <a:lstStyle/>
                    <a:p>
                      <a:pPr algn="ctr"/>
                      <a:r>
                        <a:rPr sz="1300" b="1">
                          <a:solidFill>
                            <a:srgbClr val="FFFFFF"/>
                          </a:solidFill>
                          <a:latin typeface="Arial"/>
                        </a:rPr>
                        <a:t>Images</a:t>
                      </a:r>
                    </a:p>
                  </a:txBody>
                  <a:tcPr>
                    <a:solidFill>
                      <a:srgbClr val="1F2933"/>
                    </a:solidFill>
                  </a:tcPr>
                </a:tc>
                <a:tc>
                  <a:txBody>
                    <a:bodyPr/>
                    <a:lstStyle/>
                    <a:p>
                      <a:pPr algn="ctr"/>
                      <a:r>
                        <a:rPr sz="1300" b="1">
                          <a:solidFill>
                            <a:srgbClr val="FFFFFF"/>
                          </a:solidFill>
                          <a:latin typeface="Arial"/>
                        </a:rPr>
                        <a:t>Capture groups</a:t>
                      </a:r>
                    </a:p>
                  </a:txBody>
                  <a:tcPr>
                    <a:solidFill>
                      <a:srgbClr val="1F2933"/>
                    </a:solidFill>
                  </a:tcPr>
                </a:tc>
                <a:tc>
                  <a:txBody>
                    <a:bodyPr/>
                    <a:lstStyle/>
                    <a:p>
                      <a:pPr algn="ctr"/>
                      <a:r>
                        <a:rPr sz="1300" b="1">
                          <a:solidFill>
                            <a:srgbClr val="FFFFFF"/>
                          </a:solidFill>
                          <a:latin typeface="Arial"/>
                        </a:rPr>
                        <a:t>Use</a:t>
                      </a:r>
                    </a:p>
                  </a:txBody>
                  <a:tcPr>
                    <a:solidFill>
                      <a:srgbClr val="1F2933"/>
                    </a:solidFill>
                  </a:tcPr>
                </a:tc>
              </a:tr>
              <a:tr h="384048">
                <a:tc>
                  <a:txBody>
                    <a:bodyPr/>
                    <a:lstStyle/>
                    <a:p>
                      <a:pPr algn="l"/>
                      <a:r>
                        <a:rPr sz="1300" b="0">
                          <a:solidFill>
                            <a:srgbClr val="1F2933"/>
                          </a:solidFill>
                          <a:latin typeface="Arial"/>
                        </a:rPr>
                        <a:t>Train</a:t>
                      </a:r>
                    </a:p>
                  </a:txBody>
                  <a:tcPr>
                    <a:solidFill>
                      <a:srgbClr val="FFFFFF"/>
                    </a:solidFill>
                  </a:tcPr>
                </a:tc>
                <a:tc>
                  <a:txBody>
                    <a:bodyPr/>
                    <a:lstStyle/>
                    <a:p>
                      <a:pPr algn="ctr"/>
                      <a:r>
                        <a:rPr sz="1300" b="0">
                          <a:solidFill>
                            <a:srgbClr val="1F2933"/>
                          </a:solidFill>
                          <a:latin typeface="Arial"/>
                        </a:rPr>
                        <a:t>2,110</a:t>
                      </a:r>
                    </a:p>
                  </a:txBody>
                  <a:tcPr>
                    <a:solidFill>
                      <a:srgbClr val="FFFFFF"/>
                    </a:solidFill>
                  </a:tcPr>
                </a:tc>
                <a:tc>
                  <a:txBody>
                    <a:bodyPr/>
                    <a:lstStyle/>
                    <a:p>
                      <a:pPr algn="ctr"/>
                      <a:r>
                        <a:rPr sz="1300" b="0">
                          <a:solidFill>
                            <a:srgbClr val="1F2933"/>
                          </a:solidFill>
                          <a:latin typeface="Arial"/>
                        </a:rPr>
                        <a:t>726</a:t>
                      </a:r>
                    </a:p>
                  </a:txBody>
                  <a:tcPr>
                    <a:solidFill>
                      <a:srgbClr val="FFFFFF"/>
                    </a:solidFill>
                  </a:tcPr>
                </a:tc>
                <a:tc>
                  <a:txBody>
                    <a:bodyPr/>
                    <a:lstStyle/>
                    <a:p>
                      <a:pPr algn="ctr"/>
                      <a:r>
                        <a:rPr sz="1300" b="0">
                          <a:solidFill>
                            <a:srgbClr val="1F2933"/>
                          </a:solidFill>
                          <a:latin typeface="Arial"/>
                        </a:rPr>
                        <a:t>Learning</a:t>
                      </a:r>
                    </a:p>
                  </a:txBody>
                  <a:tcPr>
                    <a:solidFill>
                      <a:srgbClr val="FFFFFF"/>
                    </a:solidFill>
                  </a:tcPr>
                </a:tc>
              </a:tr>
              <a:tr h="384048">
                <a:tc>
                  <a:txBody>
                    <a:bodyPr/>
                    <a:lstStyle/>
                    <a:p>
                      <a:pPr algn="l"/>
                      <a:r>
                        <a:rPr sz="1300" b="0">
                          <a:solidFill>
                            <a:srgbClr val="1F2933"/>
                          </a:solidFill>
                          <a:latin typeface="Arial"/>
                        </a:rPr>
                        <a:t>Validation</a:t>
                      </a:r>
                    </a:p>
                  </a:txBody>
                  <a:tcPr>
                    <a:solidFill>
                      <a:srgbClr val="F5F7FA"/>
                    </a:solidFill>
                  </a:tcPr>
                </a:tc>
                <a:tc>
                  <a:txBody>
                    <a:bodyPr/>
                    <a:lstStyle/>
                    <a:p>
                      <a:pPr algn="ctr"/>
                      <a:r>
                        <a:rPr sz="1300" b="0">
                          <a:solidFill>
                            <a:srgbClr val="1F2933"/>
                          </a:solidFill>
                          <a:latin typeface="Arial"/>
                        </a:rPr>
                        <a:t>215</a:t>
                      </a:r>
                    </a:p>
                  </a:txBody>
                  <a:tcPr>
                    <a:solidFill>
                      <a:srgbClr val="F5F7FA"/>
                    </a:solidFill>
                  </a:tcPr>
                </a:tc>
                <a:tc>
                  <a:txBody>
                    <a:bodyPr/>
                    <a:lstStyle/>
                    <a:p>
                      <a:pPr algn="ctr"/>
                      <a:r>
                        <a:rPr sz="1300" b="0">
                          <a:solidFill>
                            <a:srgbClr val="1F2933"/>
                          </a:solidFill>
                          <a:latin typeface="Arial"/>
                        </a:rPr>
                        <a:t>210</a:t>
                      </a:r>
                    </a:p>
                  </a:txBody>
                  <a:tcPr>
                    <a:solidFill>
                      <a:srgbClr val="F5F7FA"/>
                    </a:solidFill>
                  </a:tcPr>
                </a:tc>
                <a:tc>
                  <a:txBody>
                    <a:bodyPr/>
                    <a:lstStyle/>
                    <a:p>
                      <a:pPr algn="ctr"/>
                      <a:r>
                        <a:rPr sz="1300" b="0">
                          <a:solidFill>
                            <a:srgbClr val="1F2933"/>
                          </a:solidFill>
                          <a:latin typeface="Arial"/>
                        </a:rPr>
                        <a:t>Checkpoint choice</a:t>
                      </a:r>
                    </a:p>
                  </a:txBody>
                  <a:tcPr>
                    <a:solidFill>
                      <a:srgbClr val="F5F7FA"/>
                    </a:solidFill>
                  </a:tcPr>
                </a:tc>
              </a:tr>
              <a:tr h="384048">
                <a:tc>
                  <a:txBody>
                    <a:bodyPr/>
                    <a:lstStyle/>
                    <a:p>
                      <a:pPr algn="l"/>
                      <a:r>
                        <a:rPr sz="1300" b="0">
                          <a:solidFill>
                            <a:srgbClr val="1F2933"/>
                          </a:solidFill>
                          <a:latin typeface="Arial"/>
                        </a:rPr>
                        <a:t>Test</a:t>
                      </a:r>
                    </a:p>
                  </a:txBody>
                  <a:tcPr>
                    <a:solidFill>
                      <a:srgbClr val="FFFFFF"/>
                    </a:solidFill>
                  </a:tcPr>
                </a:tc>
                <a:tc>
                  <a:txBody>
                    <a:bodyPr/>
                    <a:lstStyle/>
                    <a:p>
                      <a:pPr algn="ctr"/>
                      <a:r>
                        <a:rPr sz="1300" b="0">
                          <a:solidFill>
                            <a:srgbClr val="1F2933"/>
                          </a:solidFill>
                          <a:latin typeface="Arial"/>
                        </a:rPr>
                        <a:t>79</a:t>
                      </a:r>
                    </a:p>
                  </a:txBody>
                  <a:tcPr>
                    <a:solidFill>
                      <a:srgbClr val="FFFFFF"/>
                    </a:solidFill>
                  </a:tcPr>
                </a:tc>
                <a:tc>
                  <a:txBody>
                    <a:bodyPr/>
                    <a:lstStyle/>
                    <a:p>
                      <a:pPr algn="ctr"/>
                      <a:r>
                        <a:rPr sz="1300" b="0">
                          <a:solidFill>
                            <a:srgbClr val="1F2933"/>
                          </a:solidFill>
                          <a:latin typeface="Arial"/>
                        </a:rPr>
                        <a:t>75</a:t>
                      </a:r>
                    </a:p>
                  </a:txBody>
                  <a:tcPr>
                    <a:solidFill>
                      <a:srgbClr val="FFFFFF"/>
                    </a:solidFill>
                  </a:tcPr>
                </a:tc>
                <a:tc>
                  <a:txBody>
                    <a:bodyPr/>
                    <a:lstStyle/>
                    <a:p>
                      <a:pPr algn="ctr"/>
                      <a:r>
                        <a:rPr sz="1300" b="0">
                          <a:solidFill>
                            <a:srgbClr val="1F2933"/>
                          </a:solidFill>
                          <a:latin typeface="Arial"/>
                        </a:rPr>
                        <a:t>Final check once</a:t>
                      </a:r>
                    </a:p>
                  </a:txBody>
                  <a:tcPr>
                    <a:solidFill>
                      <a:srgbClr val="FFFFFF"/>
                    </a:solidFill>
                  </a:tcPr>
                </a:tc>
              </a:tr>
              <a:tr h="384048">
                <a:tc>
                  <a:txBody>
                    <a:bodyPr/>
                    <a:lstStyle/>
                    <a:p>
                      <a:pPr algn="l"/>
                      <a:r>
                        <a:rPr sz="1300" b="0">
                          <a:solidFill>
                            <a:srgbClr val="1F2933"/>
                          </a:solidFill>
                          <a:latin typeface="Arial"/>
                        </a:rPr>
                        <a:t>Reserve</a:t>
                      </a:r>
                    </a:p>
                  </a:txBody>
                  <a:tcPr>
                    <a:solidFill>
                      <a:srgbClr val="F5F7FA"/>
                    </a:solidFill>
                  </a:tcPr>
                </a:tc>
                <a:tc>
                  <a:txBody>
                    <a:bodyPr/>
                    <a:lstStyle/>
                    <a:p>
                      <a:pPr algn="ctr"/>
                      <a:r>
                        <a:rPr sz="1300" b="0">
                          <a:solidFill>
                            <a:srgbClr val="1F2933"/>
                          </a:solidFill>
                          <a:latin typeface="Arial"/>
                        </a:rPr>
                        <a:t>63</a:t>
                      </a:r>
                    </a:p>
                  </a:txBody>
                  <a:tcPr>
                    <a:solidFill>
                      <a:srgbClr val="F5F7FA"/>
                    </a:solidFill>
                  </a:tcPr>
                </a:tc>
                <a:tc>
                  <a:txBody>
                    <a:bodyPr/>
                    <a:lstStyle/>
                    <a:p>
                      <a:pPr algn="ctr"/>
                      <a:r>
                        <a:rPr sz="1300" b="0">
                          <a:solidFill>
                            <a:srgbClr val="1F2933"/>
                          </a:solidFill>
                          <a:latin typeface="Arial"/>
                        </a:rPr>
                        <a:t>61</a:t>
                      </a:r>
                    </a:p>
                  </a:txBody>
                  <a:tcPr>
                    <a:solidFill>
                      <a:srgbClr val="F5F7FA"/>
                    </a:solidFill>
                  </a:tcPr>
                </a:tc>
                <a:tc>
                  <a:txBody>
                    <a:bodyPr/>
                    <a:lstStyle/>
                    <a:p>
                      <a:pPr algn="ctr"/>
                      <a:r>
                        <a:rPr sz="1300" b="0">
                          <a:solidFill>
                            <a:srgbClr val="1F2933"/>
                          </a:solidFill>
                          <a:latin typeface="Arial"/>
                        </a:rPr>
                        <a:t>Never used</a:t>
                      </a:r>
                    </a:p>
                  </a:txBody>
                  <a:tcPr>
                    <a:solidFill>
                      <a:srgbClr val="F5F7FA"/>
                    </a:solidFill>
                  </a:tcPr>
                </a:tc>
              </a:tr>
            </a:tbl>
          </a:graphicData>
        </a:graphic>
      </p:graphicFrame>
      <p:sp>
        <p:nvSpPr>
          <p:cNvPr id="7" name="TextBox 6"/>
          <p:cNvSpPr txBox="1"/>
          <p:nvPr/>
        </p:nvSpPr>
        <p:spPr>
          <a:xfrm>
            <a:off x="6583680" y="1463040"/>
            <a:ext cx="5120640" cy="4114800"/>
          </a:xfrm>
          <a:prstGeom prst="rect">
            <a:avLst/>
          </a:prstGeom>
          <a:noFill/>
        </p:spPr>
        <p:txBody>
          <a:bodyPr wrap="square" anchor="t">
            <a:spAutoFit/>
          </a:bodyPr>
          <a:lstStyle/>
          <a:p>
            <a:pPr algn="l">
              <a:spcAft>
                <a:spcPts val="800"/>
              </a:spcAft>
            </a:pPr>
            <a:r>
              <a:rPr sz="1600" b="0">
                <a:solidFill>
                  <a:srgbClr val="1F2933"/>
                </a:solidFill>
                <a:latin typeface="Arial"/>
              </a:rPr>
              <a:t>•  Split by capture group so variants of one photo stay together</a:t>
            </a:r>
          </a:p>
          <a:p>
            <a:pPr algn="l">
              <a:spcAft>
                <a:spcPts val="800"/>
              </a:spcAft>
            </a:pPr>
            <a:r>
              <a:rPr sz="1600" b="0">
                <a:solidFill>
                  <a:srgbClr val="1F2933"/>
                </a:solidFill>
                <a:latin typeface="Arial"/>
              </a:rPr>
              <a:t>•  Exact pixel hashes checked across splits: no exact copies</a:t>
            </a:r>
          </a:p>
          <a:p>
            <a:pPr algn="l">
              <a:spcAft>
                <a:spcPts val="800"/>
              </a:spcAft>
            </a:pPr>
            <a:r>
              <a:rPr sz="1600" b="0">
                <a:solidFill>
                  <a:srgbClr val="1F2933"/>
                </a:solidFill>
                <a:latin typeface="Arial"/>
              </a:rPr>
              <a:t>•  Later check found near-copies of Lab2Wild apples across splits (see leakage slide)</a:t>
            </a:r>
          </a:p>
          <a:p>
            <a:pPr algn="l">
              <a:spcAft>
                <a:spcPts val="800"/>
              </a:spcAft>
            </a:pPr>
            <a:r>
              <a:rPr sz="1600" b="0">
                <a:solidFill>
                  <a:srgbClr val="1F2933"/>
                </a:solidFill>
                <a:latin typeface="Arial"/>
              </a:rPr>
              <a:t>•  545 training images have no defect and act as negatives</a:t>
            </a:r>
          </a:p>
          <a:p>
            <a:pPr algn="l">
              <a:spcAft>
                <a:spcPts val="800"/>
              </a:spcAft>
            </a:pPr>
            <a:r>
              <a:rPr sz="1600" b="0">
                <a:solidFill>
                  <a:srgbClr val="1F2933"/>
                </a:solidFill>
                <a:latin typeface="Arial"/>
              </a:rPr>
              <a:t>•  Augmentation only on training images</a:t>
            </a:r>
          </a:p>
          <a:p>
            <a:pPr algn="l">
              <a:spcAft>
                <a:spcPts val="800"/>
              </a:spcAft>
            </a:pPr>
            <a:r>
              <a:rPr sz="1600" b="0">
                <a:solidFill>
                  <a:srgbClr val="1F2933"/>
                </a:solidFill>
                <a:latin typeface="Arial"/>
              </a:rPr>
              <a:t>•  Test scores were never used to pick settings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Project pipeline</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9</a:t>
            </a:r>
          </a:p>
        </p:txBody>
      </p:sp>
      <p:pic>
        <p:nvPicPr>
          <p:cNvPr id="6" name="Picture 5" descr="pipeline.png"/>
          <p:cNvPicPr>
            <a:picLocks noChangeAspect="1"/>
          </p:cNvPicPr>
          <p:nvPr/>
        </p:nvPicPr>
        <p:blipFill>
          <a:blip r:embed="rId3"/>
          <a:stretch>
            <a:fillRect/>
          </a:stretch>
        </p:blipFill>
        <p:spPr>
          <a:xfrm>
            <a:off x="365760" y="2287758"/>
            <a:ext cx="11429999" cy="237392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Two-stage method</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10</a:t>
            </a:r>
          </a:p>
        </p:txBody>
      </p:sp>
      <p:sp>
        <p:nvSpPr>
          <p:cNvPr id="6" name="Rectangle 5"/>
          <p:cNvSpPr/>
          <p:nvPr/>
        </p:nvSpPr>
        <p:spPr>
          <a:xfrm>
            <a:off x="548640"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Pretrained
YOLO26l-seg</a:t>
            </a:r>
          </a:p>
        </p:txBody>
      </p:sp>
      <p:sp>
        <p:nvSpPr>
          <p:cNvPr id="7" name="Right Arrow 6"/>
          <p:cNvSpPr/>
          <p:nvPr/>
        </p:nvSpPr>
        <p:spPr>
          <a:xfrm>
            <a:off x="2514600"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80360"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Stage 1
whole fruit mask</a:t>
            </a:r>
          </a:p>
        </p:txBody>
      </p:sp>
      <p:sp>
        <p:nvSpPr>
          <p:cNvPr id="9" name="Right Arrow 8"/>
          <p:cNvSpPr/>
          <p:nvPr/>
        </p:nvSpPr>
        <p:spPr>
          <a:xfrm>
            <a:off x="4846320"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212079"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Stage 1
best.pt</a:t>
            </a:r>
          </a:p>
        </p:txBody>
      </p:sp>
      <p:sp>
        <p:nvSpPr>
          <p:cNvPr id="11" name="Right Arrow 10"/>
          <p:cNvSpPr/>
          <p:nvPr/>
        </p:nvSpPr>
        <p:spPr>
          <a:xfrm>
            <a:off x="7178039"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543800" y="1828800"/>
            <a:ext cx="1920240" cy="1188720"/>
          </a:xfrm>
          <a:prstGeom prst="rect">
            <a:avLst/>
          </a:prstGeom>
          <a:solidFill>
            <a:srgbClr val="E8F5E9"/>
          </a:solidFill>
          <a:ln>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Stage 2
3 defect classes</a:t>
            </a:r>
          </a:p>
        </p:txBody>
      </p:sp>
      <p:sp>
        <p:nvSpPr>
          <p:cNvPr id="13" name="Right Arrow 12"/>
          <p:cNvSpPr/>
          <p:nvPr/>
        </p:nvSpPr>
        <p:spPr>
          <a:xfrm>
            <a:off x="9509760"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875519"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App
fruit + defects</a:t>
            </a:r>
          </a:p>
        </p:txBody>
      </p:sp>
      <p:sp>
        <p:nvSpPr>
          <p:cNvPr id="15" name="TextBox 14"/>
          <p:cNvSpPr txBox="1"/>
          <p:nvPr/>
        </p:nvSpPr>
        <p:spPr>
          <a:xfrm>
            <a:off x="548640" y="3566160"/>
            <a:ext cx="10972800" cy="2560320"/>
          </a:xfrm>
          <a:prstGeom prst="rect">
            <a:avLst/>
          </a:prstGeom>
          <a:noFill/>
        </p:spPr>
        <p:txBody>
          <a:bodyPr wrap="square" anchor="t">
            <a:spAutoFit/>
          </a:bodyPr>
          <a:lstStyle/>
          <a:p>
            <a:pPr algn="l">
              <a:spcAft>
                <a:spcPts val="800"/>
              </a:spcAft>
            </a:pPr>
            <a:r>
              <a:rPr sz="1600" b="0">
                <a:solidFill>
                  <a:srgbClr val="1F2933"/>
                </a:solidFill>
                <a:latin typeface="Arial"/>
              </a:rPr>
              <a:t>•  Stage 1 learns what an apple looks like on every training image, damaged or not</a:t>
            </a:r>
          </a:p>
          <a:p>
            <a:pPr algn="l">
              <a:spcAft>
                <a:spcPts val="800"/>
              </a:spcAft>
            </a:pPr>
            <a:r>
              <a:rPr sz="1600" b="0">
                <a:solidFill>
                  <a:srgbClr val="1F2933"/>
                </a:solidFill>
                <a:latin typeface="Arial"/>
              </a:rPr>
              <a:t>•  Stage 2 starts from Stage 1 weights, rebuilds the output head for 3 defects, new AdamW optimizer</a:t>
            </a:r>
          </a:p>
          <a:p>
            <a:pPr algn="l">
              <a:spcAft>
                <a:spcPts val="800"/>
              </a:spcAft>
            </a:pPr>
            <a:r>
              <a:rPr sz="1600" b="0">
                <a:solidFill>
                  <a:srgbClr val="1F2933"/>
                </a:solidFill>
                <a:latin typeface="Arial"/>
              </a:rPr>
              <a:t>•  Shared backbone and neck weights carry over so Stage 2 does not start from scratch</a:t>
            </a:r>
          </a:p>
          <a:p>
            <a:pPr algn="l">
              <a:spcAft>
                <a:spcPts val="800"/>
              </a:spcAft>
            </a:pPr>
            <a:r>
              <a:rPr sz="1600" b="0">
                <a:solidFill>
                  <a:srgbClr val="1F2933"/>
                </a:solidFill>
                <a:latin typeface="Arial"/>
              </a:rPr>
              <a:t>•  In the app Stage 1 also gives the fruit area for defect coverage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Two stages in action</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11</a:t>
            </a:r>
          </a:p>
        </p:txBody>
      </p:sp>
      <p:pic>
        <p:nvPicPr>
          <p:cNvPr id="6" name="Picture 5" descr="two_stage_example.png"/>
          <p:cNvPicPr>
            <a:picLocks noChangeAspect="1"/>
          </p:cNvPicPr>
          <p:nvPr/>
        </p:nvPicPr>
        <p:blipFill>
          <a:blip r:embed="rId3"/>
          <a:stretch>
            <a:fillRect/>
          </a:stretch>
        </p:blipFill>
        <p:spPr>
          <a:xfrm>
            <a:off x="1280160" y="1234440"/>
            <a:ext cx="9601200" cy="51206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Training settings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12</a:t>
            </a:r>
          </a:p>
        </p:txBody>
      </p:sp>
      <p:graphicFrame>
        <p:nvGraphicFramePr>
          <p:cNvPr id="6" name="Table 5"/>
          <p:cNvGraphicFramePr>
            <a:graphicFrameLocks noGrp="1"/>
          </p:cNvGraphicFramePr>
          <p:nvPr/>
        </p:nvGraphicFramePr>
        <p:xfrm>
          <a:off x="548640" y="1463040"/>
          <a:ext cx="7315200" cy="3072384"/>
        </p:xfrm>
        <a:graphic>
          <a:graphicData uri="http://schemas.openxmlformats.org/drawingml/2006/table">
            <a:tbl>
              <a:tblPr firstRow="1" bandRow="1">
                <a:tableStyleId>{5C22544A-7EE6-4342-B048-85BDC9FD1C3A}</a:tableStyleId>
              </a:tblPr>
              <a:tblGrid>
                <a:gridCol w="2377440"/>
                <a:gridCol w="2468880"/>
                <a:gridCol w="2468880"/>
              </a:tblGrid>
              <a:tr h="384048">
                <a:tc>
                  <a:txBody>
                    <a:bodyPr/>
                    <a:lstStyle/>
                    <a:p>
                      <a:pPr algn="l"/>
                      <a:r>
                        <a:rPr sz="1300" b="1">
                          <a:solidFill>
                            <a:srgbClr val="FFFFFF"/>
                          </a:solidFill>
                          <a:latin typeface="Arial"/>
                        </a:rPr>
                        <a:t>Setting</a:t>
                      </a:r>
                    </a:p>
                  </a:txBody>
                  <a:tcPr>
                    <a:solidFill>
                      <a:srgbClr val="1F2933"/>
                    </a:solidFill>
                  </a:tcPr>
                </a:tc>
                <a:tc>
                  <a:txBody>
                    <a:bodyPr/>
                    <a:lstStyle/>
                    <a:p>
                      <a:pPr algn="ctr"/>
                      <a:r>
                        <a:rPr sz="1300" b="1">
                          <a:solidFill>
                            <a:srgbClr val="FFFFFF"/>
                          </a:solidFill>
                          <a:latin typeface="Arial"/>
                        </a:rPr>
                        <a:t>Stage 1 (Run 21)</a:t>
                      </a:r>
                    </a:p>
                  </a:txBody>
                  <a:tcPr>
                    <a:solidFill>
                      <a:srgbClr val="1F2933"/>
                    </a:solidFill>
                  </a:tcPr>
                </a:tc>
                <a:tc>
                  <a:txBody>
                    <a:bodyPr/>
                    <a:lstStyle/>
                    <a:p>
                      <a:pPr algn="ctr"/>
                      <a:r>
                        <a:rPr sz="1300" b="1">
                          <a:solidFill>
                            <a:srgbClr val="FFFFFF"/>
                          </a:solidFill>
                          <a:latin typeface="Arial"/>
                        </a:rPr>
                        <a:t>Stage 2 (Run 22)</a:t>
                      </a:r>
                    </a:p>
                  </a:txBody>
                  <a:tcPr>
                    <a:solidFill>
                      <a:srgbClr val="1F2933"/>
                    </a:solidFill>
                  </a:tcPr>
                </a:tc>
              </a:tr>
              <a:tr h="384048">
                <a:tc>
                  <a:txBody>
                    <a:bodyPr/>
                    <a:lstStyle/>
                    <a:p>
                      <a:pPr algn="l"/>
                      <a:r>
                        <a:rPr sz="1300" b="0">
                          <a:solidFill>
                            <a:srgbClr val="1F2933"/>
                          </a:solidFill>
                          <a:latin typeface="Arial"/>
                        </a:rPr>
                        <a:t>Start weights</a:t>
                      </a:r>
                    </a:p>
                  </a:txBody>
                  <a:tcPr>
                    <a:solidFill>
                      <a:srgbClr val="FFFFFF"/>
                    </a:solidFill>
                  </a:tcPr>
                </a:tc>
                <a:tc>
                  <a:txBody>
                    <a:bodyPr/>
                    <a:lstStyle/>
                    <a:p>
                      <a:pPr algn="ctr"/>
                      <a:r>
                        <a:rPr sz="1300" b="0">
                          <a:solidFill>
                            <a:srgbClr val="1F2933"/>
                          </a:solidFill>
                          <a:latin typeface="Arial"/>
                        </a:rPr>
                        <a:t>yolo26l-seg.pt</a:t>
                      </a:r>
                    </a:p>
                  </a:txBody>
                  <a:tcPr>
                    <a:solidFill>
                      <a:srgbClr val="FFFFFF"/>
                    </a:solidFill>
                  </a:tcPr>
                </a:tc>
                <a:tc>
                  <a:txBody>
                    <a:bodyPr/>
                    <a:lstStyle/>
                    <a:p>
                      <a:pPr algn="ctr"/>
                      <a:r>
                        <a:rPr sz="1300" b="0">
                          <a:solidFill>
                            <a:srgbClr val="1F2933"/>
                          </a:solidFill>
                          <a:latin typeface="Arial"/>
                        </a:rPr>
                        <a:t>Run 21 best.pt</a:t>
                      </a:r>
                    </a:p>
                  </a:txBody>
                  <a:tcPr>
                    <a:solidFill>
                      <a:srgbClr val="FFFFFF"/>
                    </a:solidFill>
                  </a:tcPr>
                </a:tc>
              </a:tr>
              <a:tr h="384048">
                <a:tc>
                  <a:txBody>
                    <a:bodyPr/>
                    <a:lstStyle/>
                    <a:p>
                      <a:pPr algn="l"/>
                      <a:r>
                        <a:rPr sz="1300" b="0">
                          <a:solidFill>
                            <a:srgbClr val="1F2933"/>
                          </a:solidFill>
                          <a:latin typeface="Arial"/>
                        </a:rPr>
                        <a:t>Classes</a:t>
                      </a:r>
                    </a:p>
                  </a:txBody>
                  <a:tcPr>
                    <a:solidFill>
                      <a:srgbClr val="F5F7FA"/>
                    </a:solidFill>
                  </a:tcPr>
                </a:tc>
                <a:tc>
                  <a:txBody>
                    <a:bodyPr/>
                    <a:lstStyle/>
                    <a:p>
                      <a:pPr algn="ctr"/>
                      <a:r>
                        <a:rPr sz="1300" b="0">
                          <a:solidFill>
                            <a:srgbClr val="1F2933"/>
                          </a:solidFill>
                          <a:latin typeface="Arial"/>
                        </a:rPr>
                        <a:t>apple</a:t>
                      </a:r>
                    </a:p>
                  </a:txBody>
                  <a:tcPr>
                    <a:solidFill>
                      <a:srgbClr val="F5F7FA"/>
                    </a:solidFill>
                  </a:tcPr>
                </a:tc>
                <a:tc>
                  <a:txBody>
                    <a:bodyPr/>
                    <a:lstStyle/>
                    <a:p>
                      <a:pPr algn="ctr"/>
                      <a:r>
                        <a:rPr sz="1300" b="0">
                          <a:solidFill>
                            <a:srgbClr val="1F2933"/>
                          </a:solidFill>
                          <a:latin typeface="Arial"/>
                        </a:rPr>
                        <a:t>3 defects</a:t>
                      </a:r>
                    </a:p>
                  </a:txBody>
                  <a:tcPr>
                    <a:solidFill>
                      <a:srgbClr val="F5F7FA"/>
                    </a:solidFill>
                  </a:tcPr>
                </a:tc>
              </a:tr>
              <a:tr h="384048">
                <a:tc>
                  <a:txBody>
                    <a:bodyPr/>
                    <a:lstStyle/>
                    <a:p>
                      <a:pPr algn="l"/>
                      <a:r>
                        <a:rPr sz="1300" b="0">
                          <a:solidFill>
                            <a:srgbClr val="1F2933"/>
                          </a:solidFill>
                          <a:latin typeface="Arial"/>
                        </a:rPr>
                        <a:t>Optimizer / lr0</a:t>
                      </a:r>
                    </a:p>
                  </a:txBody>
                  <a:tcPr>
                    <a:solidFill>
                      <a:srgbClr val="FFFFFF"/>
                    </a:solidFill>
                  </a:tcPr>
                </a:tc>
                <a:tc>
                  <a:txBody>
                    <a:bodyPr/>
                    <a:lstStyle/>
                    <a:p>
                      <a:pPr algn="ctr"/>
                      <a:r>
                        <a:rPr sz="1300" b="0">
                          <a:solidFill>
                            <a:srgbClr val="1F2933"/>
                          </a:solidFill>
                          <a:latin typeface="Arial"/>
                        </a:rPr>
                        <a:t>SGD / 0.001</a:t>
                      </a:r>
                    </a:p>
                  </a:txBody>
                  <a:tcPr>
                    <a:solidFill>
                      <a:srgbClr val="FFFFFF"/>
                    </a:solidFill>
                  </a:tcPr>
                </a:tc>
                <a:tc>
                  <a:txBody>
                    <a:bodyPr/>
                    <a:lstStyle/>
                    <a:p>
                      <a:pPr algn="ctr"/>
                      <a:r>
                        <a:rPr sz="1300" b="0">
                          <a:solidFill>
                            <a:srgbClr val="1F2933"/>
                          </a:solidFill>
                          <a:latin typeface="Arial"/>
                        </a:rPr>
                        <a:t>AdamW / 0.0005</a:t>
                      </a:r>
                    </a:p>
                  </a:txBody>
                  <a:tcPr>
                    <a:solidFill>
                      <a:srgbClr val="FFFFFF"/>
                    </a:solidFill>
                  </a:tcPr>
                </a:tc>
              </a:tr>
              <a:tr h="384048">
                <a:tc>
                  <a:txBody>
                    <a:bodyPr/>
                    <a:lstStyle/>
                    <a:p>
                      <a:pPr algn="l"/>
                      <a:r>
                        <a:rPr sz="1300" b="0">
                          <a:solidFill>
                            <a:srgbClr val="1F2933"/>
                          </a:solidFill>
                          <a:latin typeface="Arial"/>
                        </a:rPr>
                        <a:t>Max epochs / patience</a:t>
                      </a:r>
                    </a:p>
                  </a:txBody>
                  <a:tcPr>
                    <a:solidFill>
                      <a:srgbClr val="F5F7FA"/>
                    </a:solidFill>
                  </a:tcPr>
                </a:tc>
                <a:tc>
                  <a:txBody>
                    <a:bodyPr/>
                    <a:lstStyle/>
                    <a:p>
                      <a:pPr algn="ctr"/>
                      <a:r>
                        <a:rPr sz="1300" b="0">
                          <a:solidFill>
                            <a:srgbClr val="1F2933"/>
                          </a:solidFill>
                          <a:latin typeface="Arial"/>
                        </a:rPr>
                        <a:t>100 / 10</a:t>
                      </a:r>
                    </a:p>
                  </a:txBody>
                  <a:tcPr>
                    <a:solidFill>
                      <a:srgbClr val="F5F7FA"/>
                    </a:solidFill>
                  </a:tcPr>
                </a:tc>
                <a:tc>
                  <a:txBody>
                    <a:bodyPr/>
                    <a:lstStyle/>
                    <a:p>
                      <a:pPr algn="ctr"/>
                      <a:r>
                        <a:rPr sz="1300" b="0">
                          <a:solidFill>
                            <a:srgbClr val="1F2933"/>
                          </a:solidFill>
                          <a:latin typeface="Arial"/>
                        </a:rPr>
                        <a:t>300 / 30</a:t>
                      </a:r>
                    </a:p>
                  </a:txBody>
                  <a:tcPr>
                    <a:solidFill>
                      <a:srgbClr val="F5F7FA"/>
                    </a:solidFill>
                  </a:tcPr>
                </a:tc>
              </a:tr>
              <a:tr h="384048">
                <a:tc>
                  <a:txBody>
                    <a:bodyPr/>
                    <a:lstStyle/>
                    <a:p>
                      <a:pPr algn="l"/>
                      <a:r>
                        <a:rPr sz="1300" b="0">
                          <a:solidFill>
                            <a:srgbClr val="1F2933"/>
                          </a:solidFill>
                          <a:latin typeface="Arial"/>
                        </a:rPr>
                        <a:t>Image size / batch</a:t>
                      </a:r>
                    </a:p>
                  </a:txBody>
                  <a:tcPr>
                    <a:solidFill>
                      <a:srgbClr val="FFFFFF"/>
                    </a:solidFill>
                  </a:tcPr>
                </a:tc>
                <a:tc>
                  <a:txBody>
                    <a:bodyPr/>
                    <a:lstStyle/>
                    <a:p>
                      <a:pPr algn="ctr"/>
                      <a:r>
                        <a:rPr sz="1300" b="0">
                          <a:solidFill>
                            <a:srgbClr val="1F2933"/>
                          </a:solidFill>
                          <a:latin typeface="Arial"/>
                        </a:rPr>
                        <a:t>864 / 56</a:t>
                      </a:r>
                    </a:p>
                  </a:txBody>
                  <a:tcPr>
                    <a:solidFill>
                      <a:srgbClr val="FFFFFF"/>
                    </a:solidFill>
                  </a:tcPr>
                </a:tc>
                <a:tc>
                  <a:txBody>
                    <a:bodyPr/>
                    <a:lstStyle/>
                    <a:p>
                      <a:pPr algn="ctr"/>
                      <a:r>
                        <a:rPr sz="1300" b="0">
                          <a:solidFill>
                            <a:srgbClr val="1F2933"/>
                          </a:solidFill>
                          <a:latin typeface="Arial"/>
                        </a:rPr>
                        <a:t>864 / 56</a:t>
                      </a:r>
                    </a:p>
                  </a:txBody>
                  <a:tcPr>
                    <a:solidFill>
                      <a:srgbClr val="FFFFFF"/>
                    </a:solidFill>
                  </a:tcPr>
                </a:tc>
              </a:tr>
              <a:tr h="384048">
                <a:tc>
                  <a:txBody>
                    <a:bodyPr/>
                    <a:lstStyle/>
                    <a:p>
                      <a:pPr algn="l"/>
                      <a:r>
                        <a:rPr sz="1300" b="0">
                          <a:solidFill>
                            <a:srgbClr val="1F2933"/>
                          </a:solidFill>
                          <a:latin typeface="Arial"/>
                        </a:rPr>
                        <a:t>Schedule</a:t>
                      </a:r>
                    </a:p>
                  </a:txBody>
                  <a:tcPr>
                    <a:solidFill>
                      <a:srgbClr val="F5F7FA"/>
                    </a:solidFill>
                  </a:tcPr>
                </a:tc>
                <a:tc>
                  <a:txBody>
                    <a:bodyPr/>
                    <a:lstStyle/>
                    <a:p>
                      <a:pPr algn="ctr"/>
                      <a:r>
                        <a:rPr sz="1300" b="0">
                          <a:solidFill>
                            <a:srgbClr val="1F2933"/>
                          </a:solidFill>
                          <a:latin typeface="Arial"/>
                        </a:rPr>
                        <a:t>cosine, 3 warmup</a:t>
                      </a:r>
                    </a:p>
                  </a:txBody>
                  <a:tcPr>
                    <a:solidFill>
                      <a:srgbClr val="F5F7FA"/>
                    </a:solidFill>
                  </a:tcPr>
                </a:tc>
                <a:tc>
                  <a:txBody>
                    <a:bodyPr/>
                    <a:lstStyle/>
                    <a:p>
                      <a:pPr algn="ctr"/>
                      <a:r>
                        <a:rPr sz="1300" b="0">
                          <a:solidFill>
                            <a:srgbClr val="1F2933"/>
                          </a:solidFill>
                          <a:latin typeface="Arial"/>
                        </a:rPr>
                        <a:t>cosine, 3 warmup</a:t>
                      </a:r>
                    </a:p>
                  </a:txBody>
                  <a:tcPr>
                    <a:solidFill>
                      <a:srgbClr val="F5F7FA"/>
                    </a:solidFill>
                  </a:tcPr>
                </a:tc>
              </a:tr>
              <a:tr h="384048">
                <a:tc>
                  <a:txBody>
                    <a:bodyPr/>
                    <a:lstStyle/>
                    <a:p>
                      <a:pPr algn="l"/>
                      <a:r>
                        <a:rPr sz="1300" b="0">
                          <a:solidFill>
                            <a:srgbClr val="1F2933"/>
                          </a:solidFill>
                          <a:latin typeface="Arial"/>
                        </a:rPr>
                        <a:t>Epochs run</a:t>
                      </a:r>
                    </a:p>
                  </a:txBody>
                  <a:tcPr>
                    <a:solidFill>
                      <a:srgbClr val="FFFFFF"/>
                    </a:solidFill>
                  </a:tcPr>
                </a:tc>
                <a:tc>
                  <a:txBody>
                    <a:bodyPr/>
                    <a:lstStyle/>
                    <a:p>
                      <a:pPr algn="ctr"/>
                      <a:r>
                        <a:rPr sz="1300" b="0">
                          <a:solidFill>
                            <a:srgbClr val="1F2933"/>
                          </a:solidFill>
                          <a:latin typeface="Arial"/>
                        </a:rPr>
                        <a:t>34</a:t>
                      </a:r>
                    </a:p>
                  </a:txBody>
                  <a:tcPr>
                    <a:solidFill>
                      <a:srgbClr val="FFFFFF"/>
                    </a:solidFill>
                  </a:tcPr>
                </a:tc>
                <a:tc>
                  <a:txBody>
                    <a:bodyPr/>
                    <a:lstStyle/>
                    <a:p>
                      <a:pPr algn="ctr"/>
                      <a:r>
                        <a:rPr sz="1300" b="0">
                          <a:solidFill>
                            <a:srgbClr val="1F2933"/>
                          </a:solidFill>
                          <a:latin typeface="Arial"/>
                        </a:rPr>
                        <a:t>124</a:t>
                      </a:r>
                    </a:p>
                  </a:txBody>
                  <a:tcPr>
                    <a:solidFill>
                      <a:srgbClr val="FFFFFF"/>
                    </a:solidFill>
                  </a:tcPr>
                </a:tc>
              </a:tr>
            </a:tbl>
          </a:graphicData>
        </a:graphic>
      </p:graphicFrame>
      <p:sp>
        <p:nvSpPr>
          <p:cNvPr id="7" name="TextBox 6"/>
          <p:cNvSpPr txBox="1"/>
          <p:nvPr/>
        </p:nvSpPr>
        <p:spPr>
          <a:xfrm>
            <a:off x="8229600" y="1463040"/>
            <a:ext cx="3474720" cy="4572000"/>
          </a:xfrm>
          <a:prstGeom prst="rect">
            <a:avLst/>
          </a:prstGeom>
          <a:noFill/>
        </p:spPr>
        <p:txBody>
          <a:bodyPr wrap="square" anchor="t">
            <a:spAutoFit/>
          </a:bodyPr>
          <a:lstStyle/>
          <a:p>
            <a:pPr algn="l">
              <a:spcAft>
                <a:spcPts val="800"/>
              </a:spcAft>
            </a:pPr>
            <a:r>
              <a:rPr sz="1500" b="0">
                <a:solidFill>
                  <a:srgbClr val="1F2933"/>
                </a:solidFill>
                <a:latin typeface="Arial"/>
              </a:rPr>
              <a:t>•  Augment: flips, 10 degree rotation, small shift, scale and color</a:t>
            </a:r>
          </a:p>
          <a:p>
            <a:pPr algn="l">
              <a:spcAft>
                <a:spcPts val="800"/>
              </a:spcAft>
            </a:pPr>
            <a:r>
              <a:rPr sz="1500" b="0">
                <a:solidFill>
                  <a:srgbClr val="1F2933"/>
                </a:solidFill>
                <a:latin typeface="Arial"/>
              </a:rPr>
              <a:t>•  No Mosaic, MixUp or Copy-Paste to keep defect texture real</a:t>
            </a:r>
          </a:p>
          <a:p>
            <a:pPr algn="l">
              <a:spcAft>
                <a:spcPts val="800"/>
              </a:spcAft>
            </a:pPr>
            <a:r>
              <a:rPr sz="1500" b="0">
                <a:solidFill>
                  <a:srgbClr val="1F2933"/>
                </a:solidFill>
                <a:latin typeface="Arial"/>
              </a:rPr>
              <a:t>•  Ultralytics 8.4.126, AMP, seed 0</a:t>
            </a:r>
          </a:p>
          <a:p>
            <a:pPr algn="l">
              <a:spcAft>
                <a:spcPts val="800"/>
              </a:spcAft>
            </a:pPr>
            <a:r>
              <a:rPr sz="1500" b="0">
                <a:solidFill>
                  <a:srgbClr val="1F2933"/>
                </a:solidFill>
                <a:latin typeface="Arial"/>
              </a:rPr>
              <a:t>•  NVIDIA A100 80 GB on Colab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Run history: 24 runs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13</a:t>
            </a:r>
          </a:p>
        </p:txBody>
      </p:sp>
      <p:pic>
        <p:nvPicPr>
          <p:cNvPr id="6" name="Picture 5" descr="run_history_map50.png"/>
          <p:cNvPicPr>
            <a:picLocks noChangeAspect="1"/>
          </p:cNvPicPr>
          <p:nvPr/>
        </p:nvPicPr>
        <p:blipFill>
          <a:blip r:embed="rId3"/>
          <a:stretch>
            <a:fillRect/>
          </a:stretch>
        </p:blipFill>
        <p:spPr>
          <a:xfrm>
            <a:off x="1889760" y="1280160"/>
            <a:ext cx="8382000" cy="50292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What changed between runs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14</a:t>
            </a:r>
          </a:p>
        </p:txBody>
      </p:sp>
      <p:graphicFrame>
        <p:nvGraphicFramePr>
          <p:cNvPr id="6" name="Table 5"/>
          <p:cNvGraphicFramePr>
            <a:graphicFrameLocks noGrp="1"/>
          </p:cNvGraphicFramePr>
          <p:nvPr/>
        </p:nvGraphicFramePr>
        <p:xfrm>
          <a:off x="548640" y="1371600"/>
          <a:ext cx="9784080" cy="4023360"/>
        </p:xfrm>
        <a:graphic>
          <a:graphicData uri="http://schemas.openxmlformats.org/drawingml/2006/table">
            <a:tbl>
              <a:tblPr firstRow="1" bandRow="1">
                <a:tableStyleId>{5C22544A-7EE6-4342-B048-85BDC9FD1C3A}</a:tableStyleId>
              </a:tblPr>
              <a:tblGrid>
                <a:gridCol w="914400"/>
                <a:gridCol w="2926080"/>
                <a:gridCol w="822960"/>
                <a:gridCol w="2743200"/>
                <a:gridCol w="1097280"/>
                <a:gridCol w="1280160"/>
              </a:tblGrid>
              <a:tr h="365760">
                <a:tc>
                  <a:txBody>
                    <a:bodyPr/>
                    <a:lstStyle/>
                    <a:p>
                      <a:pPr algn="l"/>
                      <a:r>
                        <a:rPr sz="1200" b="1">
                          <a:solidFill>
                            <a:srgbClr val="FFFFFF"/>
                          </a:solidFill>
                          <a:latin typeface="Arial"/>
                        </a:rPr>
                        <a:t>Run</a:t>
                      </a:r>
                    </a:p>
                  </a:txBody>
                  <a:tcPr>
                    <a:solidFill>
                      <a:srgbClr val="1F2933"/>
                    </a:solidFill>
                  </a:tcPr>
                </a:tc>
                <a:tc>
                  <a:txBody>
                    <a:bodyPr/>
                    <a:lstStyle/>
                    <a:p>
                      <a:pPr algn="ctr"/>
                      <a:r>
                        <a:rPr sz="1200" b="1">
                          <a:solidFill>
                            <a:srgbClr val="FFFFFF"/>
                          </a:solidFill>
                          <a:latin typeface="Arial"/>
                        </a:rPr>
                        <a:t>Data</a:t>
                      </a:r>
                    </a:p>
                  </a:txBody>
                  <a:tcPr>
                    <a:solidFill>
                      <a:srgbClr val="1F2933"/>
                    </a:solidFill>
                  </a:tcPr>
                </a:tc>
                <a:tc>
                  <a:txBody>
                    <a:bodyPr/>
                    <a:lstStyle/>
                    <a:p>
                      <a:pPr algn="ctr"/>
                      <a:r>
                        <a:rPr sz="1200" b="1">
                          <a:solidFill>
                            <a:srgbClr val="FFFFFF"/>
                          </a:solidFill>
                          <a:latin typeface="Arial"/>
                        </a:rPr>
                        <a:t>Model</a:t>
                      </a:r>
                    </a:p>
                  </a:txBody>
                  <a:tcPr>
                    <a:solidFill>
                      <a:srgbClr val="1F2933"/>
                    </a:solidFill>
                  </a:tcPr>
                </a:tc>
                <a:tc>
                  <a:txBody>
                    <a:bodyPr/>
                    <a:lstStyle/>
                    <a:p>
                      <a:pPr algn="ctr"/>
                      <a:r>
                        <a:rPr sz="1200" b="1">
                          <a:solidFill>
                            <a:srgbClr val="FFFFFF"/>
                          </a:solidFill>
                          <a:latin typeface="Arial"/>
                        </a:rPr>
                        <a:t>Change</a:t>
                      </a:r>
                    </a:p>
                  </a:txBody>
                  <a:tcPr>
                    <a:solidFill>
                      <a:srgbClr val="1F2933"/>
                    </a:solidFill>
                  </a:tcPr>
                </a:tc>
                <a:tc>
                  <a:txBody>
                    <a:bodyPr/>
                    <a:lstStyle/>
                    <a:p>
                      <a:pPr algn="ctr"/>
                      <a:r>
                        <a:rPr sz="1200" b="1">
                          <a:solidFill>
                            <a:srgbClr val="FFFFFF"/>
                          </a:solidFill>
                          <a:latin typeface="Arial"/>
                        </a:rPr>
                        <a:t>mAP50</a:t>
                      </a:r>
                    </a:p>
                  </a:txBody>
                  <a:tcPr>
                    <a:solidFill>
                      <a:srgbClr val="1F2933"/>
                    </a:solidFill>
                  </a:tcPr>
                </a:tc>
                <a:tc>
                  <a:txBody>
                    <a:bodyPr/>
                    <a:lstStyle/>
                    <a:p>
                      <a:pPr algn="ctr"/>
                      <a:r>
                        <a:rPr sz="1200" b="1">
                          <a:solidFill>
                            <a:srgbClr val="FFFFFF"/>
                          </a:solidFill>
                          <a:latin typeface="Arial"/>
                        </a:rPr>
                        <a:t>mAP50-95</a:t>
                      </a:r>
                    </a:p>
                  </a:txBody>
                  <a:tcPr>
                    <a:solidFill>
                      <a:srgbClr val="1F2933"/>
                    </a:solidFill>
                  </a:tcPr>
                </a:tc>
              </a:tr>
              <a:tr h="365760">
                <a:tc>
                  <a:txBody>
                    <a:bodyPr/>
                    <a:lstStyle/>
                    <a:p>
                      <a:pPr algn="l"/>
                      <a:r>
                        <a:rPr sz="1200" b="0">
                          <a:solidFill>
                            <a:srgbClr val="1F2933"/>
                          </a:solidFill>
                          <a:latin typeface="Arial"/>
                        </a:rPr>
                        <a:t>P1</a:t>
                      </a:r>
                    </a:p>
                  </a:txBody>
                  <a:tcPr>
                    <a:solidFill>
                      <a:srgbClr val="FFFFFF"/>
                    </a:solidFill>
                  </a:tcPr>
                </a:tc>
                <a:tc>
                  <a:txBody>
                    <a:bodyPr/>
                    <a:lstStyle/>
                    <a:p>
                      <a:pPr algn="ctr"/>
                      <a:r>
                        <a:rPr sz="1200" b="0">
                          <a:solidFill>
                            <a:srgbClr val="1F2933"/>
                          </a:solidFill>
                          <a:latin typeface="Arial"/>
                        </a:rPr>
                        <a:t>Apple 5 classes, 252 train</a:t>
                      </a:r>
                    </a:p>
                  </a:txBody>
                  <a:tcPr>
                    <a:solidFill>
                      <a:srgbClr val="FFFFFF"/>
                    </a:solidFill>
                  </a:tcPr>
                </a:tc>
                <a:tc>
                  <a:txBody>
                    <a:bodyPr/>
                    <a:lstStyle/>
                    <a:p>
                      <a:pPr algn="ctr"/>
                      <a:r>
                        <a:rPr sz="1200" b="0">
                          <a:solidFill>
                            <a:srgbClr val="1F2933"/>
                          </a:solidFill>
                          <a:latin typeface="Arial"/>
                        </a:rPr>
                        <a:t>26n</a:t>
                      </a:r>
                    </a:p>
                  </a:txBody>
                  <a:tcPr>
                    <a:solidFill>
                      <a:srgbClr val="FFFFFF"/>
                    </a:solidFill>
                  </a:tcPr>
                </a:tc>
                <a:tc>
                  <a:txBody>
                    <a:bodyPr/>
                    <a:lstStyle/>
                    <a:p>
                      <a:pPr algn="ctr"/>
                      <a:r>
                        <a:rPr sz="1200" b="0">
                          <a:solidFill>
                            <a:srgbClr val="1F2933"/>
                          </a:solidFill>
                          <a:latin typeface="Arial"/>
                        </a:rPr>
                        <a:t>First pilot</a:t>
                      </a:r>
                    </a:p>
                  </a:txBody>
                  <a:tcPr>
                    <a:solidFill>
                      <a:srgbClr val="FFFFFF"/>
                    </a:solidFill>
                  </a:tcPr>
                </a:tc>
                <a:tc>
                  <a:txBody>
                    <a:bodyPr/>
                    <a:lstStyle/>
                    <a:p>
                      <a:pPr algn="ctr"/>
                      <a:r>
                        <a:rPr sz="1200" b="0">
                          <a:solidFill>
                            <a:srgbClr val="1F2933"/>
                          </a:solidFill>
                          <a:latin typeface="Arial"/>
                        </a:rPr>
                        <a:t>0.474</a:t>
                      </a:r>
                    </a:p>
                  </a:txBody>
                  <a:tcPr>
                    <a:solidFill>
                      <a:srgbClr val="FFFFFF"/>
                    </a:solidFill>
                  </a:tcPr>
                </a:tc>
                <a:tc>
                  <a:txBody>
                    <a:bodyPr/>
                    <a:lstStyle/>
                    <a:p>
                      <a:pPr algn="ctr"/>
                      <a:r>
                        <a:rPr sz="1200" b="0">
                          <a:solidFill>
                            <a:srgbClr val="1F2933"/>
                          </a:solidFill>
                          <a:latin typeface="Arial"/>
                        </a:rPr>
                        <a:t>0.310</a:t>
                      </a:r>
                    </a:p>
                  </a:txBody>
                  <a:tcPr>
                    <a:solidFill>
                      <a:srgbClr val="FFFFFF"/>
                    </a:solidFill>
                  </a:tcPr>
                </a:tc>
              </a:tr>
              <a:tr h="365760">
                <a:tc>
                  <a:txBody>
                    <a:bodyPr/>
                    <a:lstStyle/>
                    <a:p>
                      <a:pPr algn="l"/>
                      <a:r>
                        <a:rPr sz="1200" b="0">
                          <a:solidFill>
                            <a:srgbClr val="1F2933"/>
                          </a:solidFill>
                          <a:latin typeface="Arial"/>
                        </a:rPr>
                        <a:t>P2</a:t>
                      </a:r>
                    </a:p>
                  </a:txBody>
                  <a:tcPr>
                    <a:solidFill>
                      <a:srgbClr val="F5F7FA"/>
                    </a:solidFill>
                  </a:tcPr>
                </a:tc>
                <a:tc>
                  <a:txBody>
                    <a:bodyPr/>
                    <a:lstStyle/>
                    <a:p>
                      <a:pPr algn="ctr"/>
                      <a:r>
                        <a:rPr sz="1200" b="0">
                          <a:solidFill>
                            <a:srgbClr val="1F2933"/>
                          </a:solidFill>
                          <a:latin typeface="Arial"/>
                        </a:rPr>
                        <a:t>Apple + 1 merged defect</a:t>
                      </a:r>
                    </a:p>
                  </a:txBody>
                  <a:tcPr>
                    <a:solidFill>
                      <a:srgbClr val="F5F7FA"/>
                    </a:solidFill>
                  </a:tcPr>
                </a:tc>
                <a:tc>
                  <a:txBody>
                    <a:bodyPr/>
                    <a:lstStyle/>
                    <a:p>
                      <a:pPr algn="ctr"/>
                      <a:r>
                        <a:rPr sz="1200" b="0">
                          <a:solidFill>
                            <a:srgbClr val="1F2933"/>
                          </a:solidFill>
                          <a:latin typeface="Arial"/>
                        </a:rPr>
                        <a:t>26n</a:t>
                      </a:r>
                    </a:p>
                  </a:txBody>
                  <a:tcPr>
                    <a:solidFill>
                      <a:srgbClr val="F5F7FA"/>
                    </a:solidFill>
                  </a:tcPr>
                </a:tc>
                <a:tc>
                  <a:txBody>
                    <a:bodyPr/>
                    <a:lstStyle/>
                    <a:p>
                      <a:pPr algn="ctr"/>
                      <a:r>
                        <a:rPr sz="1200" b="0">
                          <a:solidFill>
                            <a:srgbClr val="1F2933"/>
                          </a:solidFill>
                          <a:latin typeface="Arial"/>
                        </a:rPr>
                        <a:t>Merged defects</a:t>
                      </a:r>
                    </a:p>
                  </a:txBody>
                  <a:tcPr>
                    <a:solidFill>
                      <a:srgbClr val="F5F7FA"/>
                    </a:solidFill>
                  </a:tcPr>
                </a:tc>
                <a:tc>
                  <a:txBody>
                    <a:bodyPr/>
                    <a:lstStyle/>
                    <a:p>
                      <a:pPr algn="ctr"/>
                      <a:r>
                        <a:rPr sz="1200" b="0">
                          <a:solidFill>
                            <a:srgbClr val="1F2933"/>
                          </a:solidFill>
                          <a:latin typeface="Arial"/>
                        </a:rPr>
                        <a:t>0.751</a:t>
                      </a:r>
                    </a:p>
                  </a:txBody>
                  <a:tcPr>
                    <a:solidFill>
                      <a:srgbClr val="F5F7FA"/>
                    </a:solidFill>
                  </a:tcPr>
                </a:tc>
                <a:tc>
                  <a:txBody>
                    <a:bodyPr/>
                    <a:lstStyle/>
                    <a:p>
                      <a:pPr algn="ctr"/>
                      <a:r>
                        <a:rPr sz="1200" b="0">
                          <a:solidFill>
                            <a:srgbClr val="1F2933"/>
                          </a:solidFill>
                          <a:latin typeface="Arial"/>
                        </a:rPr>
                        <a:t>0.523</a:t>
                      </a:r>
                    </a:p>
                  </a:txBody>
                  <a:tcPr>
                    <a:solidFill>
                      <a:srgbClr val="F5F7FA"/>
                    </a:solidFill>
                  </a:tcPr>
                </a:tc>
              </a:tr>
              <a:tr h="365760">
                <a:tc>
                  <a:txBody>
                    <a:bodyPr/>
                    <a:lstStyle/>
                    <a:p>
                      <a:pPr algn="l"/>
                      <a:r>
                        <a:rPr sz="1200" b="0">
                          <a:solidFill>
                            <a:srgbClr val="1F2933"/>
                          </a:solidFill>
                          <a:latin typeface="Arial"/>
                        </a:rPr>
                        <a:t>P5</a:t>
                      </a:r>
                    </a:p>
                  </a:txBody>
                  <a:tcPr>
                    <a:solidFill>
                      <a:srgbClr val="FFFFFF"/>
                    </a:solidFill>
                  </a:tcPr>
                </a:tc>
                <a:tc>
                  <a:txBody>
                    <a:bodyPr/>
                    <a:lstStyle/>
                    <a:p>
                      <a:pPr algn="ctr"/>
                      <a:r>
                        <a:rPr sz="1200" b="0">
                          <a:solidFill>
                            <a:srgbClr val="1F2933"/>
                          </a:solidFill>
                          <a:latin typeface="Arial"/>
                        </a:rPr>
                        <a:t>Apple mango tomato</a:t>
                      </a:r>
                    </a:p>
                  </a:txBody>
                  <a:tcPr>
                    <a:solidFill>
                      <a:srgbClr val="FFFFFF"/>
                    </a:solidFill>
                  </a:tcPr>
                </a:tc>
                <a:tc>
                  <a:txBody>
                    <a:bodyPr/>
                    <a:lstStyle/>
                    <a:p>
                      <a:pPr algn="ctr"/>
                      <a:r>
                        <a:rPr sz="1200" b="0">
                          <a:solidFill>
                            <a:srgbClr val="1F2933"/>
                          </a:solidFill>
                          <a:latin typeface="Arial"/>
                        </a:rPr>
                        <a:t>26s</a:t>
                      </a:r>
                    </a:p>
                  </a:txBody>
                  <a:tcPr>
                    <a:solidFill>
                      <a:srgbClr val="FFFFFF"/>
                    </a:solidFill>
                  </a:tcPr>
                </a:tc>
                <a:tc>
                  <a:txBody>
                    <a:bodyPr/>
                    <a:lstStyle/>
                    <a:p>
                      <a:pPr algn="ctr"/>
                      <a:r>
                        <a:rPr sz="1200" b="0">
                          <a:solidFill>
                            <a:srgbClr val="1F2933"/>
                          </a:solidFill>
                          <a:latin typeface="Arial"/>
                        </a:rPr>
                        <a:t>Three fruits</a:t>
                      </a:r>
                    </a:p>
                  </a:txBody>
                  <a:tcPr>
                    <a:solidFill>
                      <a:srgbClr val="FFFFFF"/>
                    </a:solidFill>
                  </a:tcPr>
                </a:tc>
                <a:tc>
                  <a:txBody>
                    <a:bodyPr/>
                    <a:lstStyle/>
                    <a:p>
                      <a:pPr algn="ctr"/>
                      <a:r>
                        <a:rPr sz="1200" b="0">
                          <a:solidFill>
                            <a:srgbClr val="1F2933"/>
                          </a:solidFill>
                          <a:latin typeface="Arial"/>
                        </a:rPr>
                        <a:t>0.683</a:t>
                      </a:r>
                    </a:p>
                  </a:txBody>
                  <a:tcPr>
                    <a:solidFill>
                      <a:srgbClr val="FFFFFF"/>
                    </a:solidFill>
                  </a:tcPr>
                </a:tc>
                <a:tc>
                  <a:txBody>
                    <a:bodyPr/>
                    <a:lstStyle/>
                    <a:p>
                      <a:pPr algn="ctr"/>
                      <a:r>
                        <a:rPr sz="1200" b="0">
                          <a:solidFill>
                            <a:srgbClr val="1F2933"/>
                          </a:solidFill>
                          <a:latin typeface="Arial"/>
                        </a:rPr>
                        <a:t>0.526</a:t>
                      </a:r>
                    </a:p>
                  </a:txBody>
                  <a:tcPr>
                    <a:solidFill>
                      <a:srgbClr val="FFFFFF"/>
                    </a:solidFill>
                  </a:tcPr>
                </a:tc>
              </a:tr>
              <a:tr h="365760">
                <a:tc>
                  <a:txBody>
                    <a:bodyPr/>
                    <a:lstStyle/>
                    <a:p>
                      <a:pPr algn="l"/>
                      <a:r>
                        <a:rPr sz="1200" b="0">
                          <a:solidFill>
                            <a:srgbClr val="1F2933"/>
                          </a:solidFill>
                          <a:latin typeface="Arial"/>
                        </a:rPr>
                        <a:t>Run 5</a:t>
                      </a:r>
                    </a:p>
                  </a:txBody>
                  <a:tcPr>
                    <a:solidFill>
                      <a:srgbClr val="F5F7FA"/>
                    </a:solidFill>
                  </a:tcPr>
                </a:tc>
                <a:tc>
                  <a:txBody>
                    <a:bodyPr/>
                    <a:lstStyle/>
                    <a:p>
                      <a:pPr algn="ctr"/>
                      <a:r>
                        <a:rPr sz="1200" b="0">
                          <a:solidFill>
                            <a:srgbClr val="1F2933"/>
                          </a:solidFill>
                          <a:latin typeface="Arial"/>
                        </a:rPr>
                        <a:t>Apple tomato + members</a:t>
                      </a:r>
                    </a:p>
                  </a:txBody>
                  <a:tcPr>
                    <a:solidFill>
                      <a:srgbClr val="F5F7FA"/>
                    </a:solidFill>
                  </a:tcPr>
                </a:tc>
                <a:tc>
                  <a:txBody>
                    <a:bodyPr/>
                    <a:lstStyle/>
                    <a:p>
                      <a:pPr algn="ctr"/>
                      <a:r>
                        <a:rPr sz="1200" b="0">
                          <a:solidFill>
                            <a:srgbClr val="1F2933"/>
                          </a:solidFill>
                          <a:latin typeface="Arial"/>
                        </a:rPr>
                        <a:t>26s</a:t>
                      </a:r>
                    </a:p>
                  </a:txBody>
                  <a:tcPr>
                    <a:solidFill>
                      <a:srgbClr val="F5F7FA"/>
                    </a:solidFill>
                  </a:tcPr>
                </a:tc>
                <a:tc>
                  <a:txBody>
                    <a:bodyPr/>
                    <a:lstStyle/>
                    <a:p>
                      <a:pPr algn="ctr"/>
                      <a:r>
                        <a:rPr sz="1200" b="0">
                          <a:solidFill>
                            <a:srgbClr val="1F2933"/>
                          </a:solidFill>
                          <a:latin typeface="Arial"/>
                        </a:rPr>
                        <a:t>Member photos</a:t>
                      </a:r>
                    </a:p>
                  </a:txBody>
                  <a:tcPr>
                    <a:solidFill>
                      <a:srgbClr val="F5F7FA"/>
                    </a:solidFill>
                  </a:tcPr>
                </a:tc>
                <a:tc>
                  <a:txBody>
                    <a:bodyPr/>
                    <a:lstStyle/>
                    <a:p>
                      <a:pPr algn="ctr"/>
                      <a:r>
                        <a:rPr sz="1200" b="0">
                          <a:solidFill>
                            <a:srgbClr val="1F2933"/>
                          </a:solidFill>
                          <a:latin typeface="Arial"/>
                        </a:rPr>
                        <a:t>0.747</a:t>
                      </a:r>
                    </a:p>
                  </a:txBody>
                  <a:tcPr>
                    <a:solidFill>
                      <a:srgbClr val="F5F7FA"/>
                    </a:solidFill>
                  </a:tcPr>
                </a:tc>
                <a:tc>
                  <a:txBody>
                    <a:bodyPr/>
                    <a:lstStyle/>
                    <a:p>
                      <a:pPr algn="ctr"/>
                      <a:r>
                        <a:rPr sz="1200" b="0">
                          <a:solidFill>
                            <a:srgbClr val="1F2933"/>
                          </a:solidFill>
                          <a:latin typeface="Arial"/>
                        </a:rPr>
                        <a:t>0.622</a:t>
                      </a:r>
                    </a:p>
                  </a:txBody>
                  <a:tcPr>
                    <a:solidFill>
                      <a:srgbClr val="F5F7FA"/>
                    </a:solidFill>
                  </a:tcPr>
                </a:tc>
              </a:tr>
              <a:tr h="365760">
                <a:tc>
                  <a:txBody>
                    <a:bodyPr/>
                    <a:lstStyle/>
                    <a:p>
                      <a:pPr algn="l"/>
                      <a:r>
                        <a:rPr sz="1200" b="0">
                          <a:solidFill>
                            <a:srgbClr val="1F2933"/>
                          </a:solidFill>
                          <a:latin typeface="Arial"/>
                        </a:rPr>
                        <a:t>Run 11</a:t>
                      </a:r>
                    </a:p>
                  </a:txBody>
                  <a:tcPr>
                    <a:solidFill>
                      <a:srgbClr val="FFFFFF"/>
                    </a:solidFill>
                  </a:tcPr>
                </a:tc>
                <a:tc>
                  <a:txBody>
                    <a:bodyPr/>
                    <a:lstStyle/>
                    <a:p>
                      <a:pPr algn="ctr"/>
                      <a:r>
                        <a:rPr sz="1200" b="0">
                          <a:solidFill>
                            <a:srgbClr val="1F2933"/>
                          </a:solidFill>
                          <a:latin typeface="Arial"/>
                        </a:rPr>
                        <a:t>Apple tomato 3,423 train</a:t>
                      </a:r>
                    </a:p>
                  </a:txBody>
                  <a:tcPr>
                    <a:solidFill>
                      <a:srgbClr val="FFFFFF"/>
                    </a:solidFill>
                  </a:tcPr>
                </a:tc>
                <a:tc>
                  <a:txBody>
                    <a:bodyPr/>
                    <a:lstStyle/>
                    <a:p>
                      <a:pPr algn="ctr"/>
                      <a:r>
                        <a:rPr sz="1200" b="0">
                          <a:solidFill>
                            <a:srgbClr val="1F2933"/>
                          </a:solidFill>
                          <a:latin typeface="Arial"/>
                        </a:rPr>
                        <a:t>26m</a:t>
                      </a:r>
                    </a:p>
                  </a:txBody>
                  <a:tcPr>
                    <a:solidFill>
                      <a:srgbClr val="FFFFFF"/>
                    </a:solidFill>
                  </a:tcPr>
                </a:tc>
                <a:tc>
                  <a:txBody>
                    <a:bodyPr/>
                    <a:lstStyle/>
                    <a:p>
                      <a:pPr algn="ctr"/>
                      <a:r>
                        <a:rPr sz="1200" b="0">
                          <a:solidFill>
                            <a:srgbClr val="1F2933"/>
                          </a:solidFill>
                          <a:latin typeface="Arial"/>
                        </a:rPr>
                        <a:t>Bigger set and model</a:t>
                      </a:r>
                    </a:p>
                  </a:txBody>
                  <a:tcPr>
                    <a:solidFill>
                      <a:srgbClr val="FFFFFF"/>
                    </a:solidFill>
                  </a:tcPr>
                </a:tc>
                <a:tc>
                  <a:txBody>
                    <a:bodyPr/>
                    <a:lstStyle/>
                    <a:p>
                      <a:pPr algn="ctr"/>
                      <a:r>
                        <a:rPr sz="1200" b="0">
                          <a:solidFill>
                            <a:srgbClr val="1F2933"/>
                          </a:solidFill>
                          <a:latin typeface="Arial"/>
                        </a:rPr>
                        <a:t>0.715</a:t>
                      </a:r>
                    </a:p>
                  </a:txBody>
                  <a:tcPr>
                    <a:solidFill>
                      <a:srgbClr val="FFFFFF"/>
                    </a:solidFill>
                  </a:tcPr>
                </a:tc>
                <a:tc>
                  <a:txBody>
                    <a:bodyPr/>
                    <a:lstStyle/>
                    <a:p>
                      <a:pPr algn="ctr"/>
                      <a:r>
                        <a:rPr sz="1200" b="0">
                          <a:solidFill>
                            <a:srgbClr val="1F2933"/>
                          </a:solidFill>
                          <a:latin typeface="Arial"/>
                        </a:rPr>
                        <a:t>0.598</a:t>
                      </a:r>
                    </a:p>
                  </a:txBody>
                  <a:tcPr>
                    <a:solidFill>
                      <a:srgbClr val="FFFFFF"/>
                    </a:solidFill>
                  </a:tcPr>
                </a:tc>
              </a:tr>
              <a:tr h="365760">
                <a:tc>
                  <a:txBody>
                    <a:bodyPr/>
                    <a:lstStyle/>
                    <a:p>
                      <a:pPr algn="l"/>
                      <a:r>
                        <a:rPr sz="1200" b="0">
                          <a:solidFill>
                            <a:srgbClr val="1F2933"/>
                          </a:solidFill>
                          <a:latin typeface="Arial"/>
                        </a:rPr>
                        <a:t>Run 14</a:t>
                      </a:r>
                    </a:p>
                  </a:txBody>
                  <a:tcPr>
                    <a:solidFill>
                      <a:srgbClr val="F5F7FA"/>
                    </a:solidFill>
                  </a:tcPr>
                </a:tc>
                <a:tc>
                  <a:txBody>
                    <a:bodyPr/>
                    <a:lstStyle/>
                    <a:p>
                      <a:pPr algn="ctr"/>
                      <a:r>
                        <a:rPr sz="1200" b="0">
                          <a:solidFill>
                            <a:srgbClr val="1F2933"/>
                          </a:solidFill>
                          <a:latin typeface="Arial"/>
                        </a:rPr>
                        <a:t>Apple 4 classes</a:t>
                      </a:r>
                    </a:p>
                  </a:txBody>
                  <a:tcPr>
                    <a:solidFill>
                      <a:srgbClr val="F5F7FA"/>
                    </a:solidFill>
                  </a:tcPr>
                </a:tc>
                <a:tc>
                  <a:txBody>
                    <a:bodyPr/>
                    <a:lstStyle/>
                    <a:p>
                      <a:pPr algn="ctr"/>
                      <a:r>
                        <a:rPr sz="1200" b="0">
                          <a:solidFill>
                            <a:srgbClr val="1F2933"/>
                          </a:solidFill>
                          <a:latin typeface="Arial"/>
                        </a:rPr>
                        <a:t>26m</a:t>
                      </a:r>
                    </a:p>
                  </a:txBody>
                  <a:tcPr>
                    <a:solidFill>
                      <a:srgbClr val="F5F7FA"/>
                    </a:solidFill>
                  </a:tcPr>
                </a:tc>
                <a:tc>
                  <a:txBody>
                    <a:bodyPr/>
                    <a:lstStyle/>
                    <a:p>
                      <a:pPr algn="ctr"/>
                      <a:r>
                        <a:rPr sz="1200" b="0">
                          <a:solidFill>
                            <a:srgbClr val="1F2933"/>
                          </a:solidFill>
                          <a:latin typeface="Arial"/>
                        </a:rPr>
                        <a:t>Apple only, single stage</a:t>
                      </a:r>
                    </a:p>
                  </a:txBody>
                  <a:tcPr>
                    <a:solidFill>
                      <a:srgbClr val="F5F7FA"/>
                    </a:solidFill>
                  </a:tcPr>
                </a:tc>
                <a:tc>
                  <a:txBody>
                    <a:bodyPr/>
                    <a:lstStyle/>
                    <a:p>
                      <a:pPr algn="ctr"/>
                      <a:r>
                        <a:rPr sz="1200" b="0">
                          <a:solidFill>
                            <a:srgbClr val="1F2933"/>
                          </a:solidFill>
                          <a:latin typeface="Arial"/>
                        </a:rPr>
                        <a:t>0.714</a:t>
                      </a:r>
                    </a:p>
                  </a:txBody>
                  <a:tcPr>
                    <a:solidFill>
                      <a:srgbClr val="F5F7FA"/>
                    </a:solidFill>
                  </a:tcPr>
                </a:tc>
                <a:tc>
                  <a:txBody>
                    <a:bodyPr/>
                    <a:lstStyle/>
                    <a:p>
                      <a:pPr algn="ctr"/>
                      <a:r>
                        <a:rPr sz="1200" b="0">
                          <a:solidFill>
                            <a:srgbClr val="1F2933"/>
                          </a:solidFill>
                          <a:latin typeface="Arial"/>
                        </a:rPr>
                        <a:t>0.558</a:t>
                      </a:r>
                    </a:p>
                  </a:txBody>
                  <a:tcPr>
                    <a:solidFill>
                      <a:srgbClr val="F5F7FA"/>
                    </a:solidFill>
                  </a:tcPr>
                </a:tc>
              </a:tr>
              <a:tr h="365760">
                <a:tc>
                  <a:txBody>
                    <a:bodyPr/>
                    <a:lstStyle/>
                    <a:p>
                      <a:pPr algn="l"/>
                      <a:r>
                        <a:rPr sz="1200" b="0">
                          <a:solidFill>
                            <a:srgbClr val="1F2933"/>
                          </a:solidFill>
                          <a:latin typeface="Arial"/>
                        </a:rPr>
                        <a:t>Run 20</a:t>
                      </a:r>
                    </a:p>
                  </a:txBody>
                  <a:tcPr>
                    <a:solidFill>
                      <a:srgbClr val="FFFFFF"/>
                    </a:solidFill>
                  </a:tcPr>
                </a:tc>
                <a:tc>
                  <a:txBody>
                    <a:bodyPr/>
                    <a:lstStyle/>
                    <a:p>
                      <a:pPr algn="ctr"/>
                      <a:r>
                        <a:rPr sz="1200" b="0">
                          <a:solidFill>
                            <a:srgbClr val="1F2933"/>
                          </a:solidFill>
                          <a:latin typeface="Arial"/>
                        </a:rPr>
                        <a:t>Apple defects</a:t>
                      </a:r>
                    </a:p>
                  </a:txBody>
                  <a:tcPr>
                    <a:solidFill>
                      <a:srgbClr val="FFFFFF"/>
                    </a:solidFill>
                  </a:tcPr>
                </a:tc>
                <a:tc>
                  <a:txBody>
                    <a:bodyPr/>
                    <a:lstStyle/>
                    <a:p>
                      <a:pPr algn="ctr"/>
                      <a:r>
                        <a:rPr sz="1200" b="0">
                          <a:solidFill>
                            <a:srgbClr val="1F2933"/>
                          </a:solidFill>
                          <a:latin typeface="Arial"/>
                        </a:rPr>
                        <a:t>26m</a:t>
                      </a:r>
                    </a:p>
                  </a:txBody>
                  <a:tcPr>
                    <a:solidFill>
                      <a:srgbClr val="FFFFFF"/>
                    </a:solidFill>
                  </a:tcPr>
                </a:tc>
                <a:tc>
                  <a:txBody>
                    <a:bodyPr/>
                    <a:lstStyle/>
                    <a:p>
                      <a:pPr algn="ctr"/>
                      <a:r>
                        <a:rPr sz="1200" b="0">
                          <a:solidFill>
                            <a:srgbClr val="1F2933"/>
                          </a:solidFill>
                          <a:latin typeface="Arial"/>
                        </a:rPr>
                        <a:t>Two-stage</a:t>
                      </a:r>
                    </a:p>
                  </a:txBody>
                  <a:tcPr>
                    <a:solidFill>
                      <a:srgbClr val="FFFFFF"/>
                    </a:solidFill>
                  </a:tcPr>
                </a:tc>
                <a:tc>
                  <a:txBody>
                    <a:bodyPr/>
                    <a:lstStyle/>
                    <a:p>
                      <a:pPr algn="ctr"/>
                      <a:r>
                        <a:rPr sz="1200" b="0">
                          <a:solidFill>
                            <a:srgbClr val="1F2933"/>
                          </a:solidFill>
                          <a:latin typeface="Arial"/>
                        </a:rPr>
                        <a:t>0.671</a:t>
                      </a:r>
                    </a:p>
                  </a:txBody>
                  <a:tcPr>
                    <a:solidFill>
                      <a:srgbClr val="FFFFFF"/>
                    </a:solidFill>
                  </a:tcPr>
                </a:tc>
                <a:tc>
                  <a:txBody>
                    <a:bodyPr/>
                    <a:lstStyle/>
                    <a:p>
                      <a:pPr algn="ctr"/>
                      <a:r>
                        <a:rPr sz="1200" b="0">
                          <a:solidFill>
                            <a:srgbClr val="1F2933"/>
                          </a:solidFill>
                          <a:latin typeface="Arial"/>
                        </a:rPr>
                        <a:t>0.450</a:t>
                      </a:r>
                    </a:p>
                  </a:txBody>
                  <a:tcPr>
                    <a:solidFill>
                      <a:srgbClr val="FFFFFF"/>
                    </a:solidFill>
                  </a:tcPr>
                </a:tc>
              </a:tr>
              <a:tr h="365760">
                <a:tc>
                  <a:txBody>
                    <a:bodyPr/>
                    <a:lstStyle/>
                    <a:p>
                      <a:pPr algn="l"/>
                      <a:r>
                        <a:rPr sz="1200" b="0">
                          <a:solidFill>
                            <a:srgbClr val="1F2933"/>
                          </a:solidFill>
                          <a:latin typeface="Arial"/>
                        </a:rPr>
                        <a:t>Run 22</a:t>
                      </a:r>
                    </a:p>
                  </a:txBody>
                  <a:tcPr>
                    <a:solidFill>
                      <a:srgbClr val="F5F7FA"/>
                    </a:solidFill>
                  </a:tcPr>
                </a:tc>
                <a:tc>
                  <a:txBody>
                    <a:bodyPr/>
                    <a:lstStyle/>
                    <a:p>
                      <a:pPr algn="ctr"/>
                      <a:r>
                        <a:rPr sz="1200" b="0">
                          <a:solidFill>
                            <a:srgbClr val="1F2933"/>
                          </a:solidFill>
                          <a:latin typeface="Arial"/>
                        </a:rPr>
                        <a:t>Apple defects</a:t>
                      </a:r>
                    </a:p>
                  </a:txBody>
                  <a:tcPr>
                    <a:solidFill>
                      <a:srgbClr val="F5F7FA"/>
                    </a:solidFill>
                  </a:tcPr>
                </a:tc>
                <a:tc>
                  <a:txBody>
                    <a:bodyPr/>
                    <a:lstStyle/>
                    <a:p>
                      <a:pPr algn="ctr"/>
                      <a:r>
                        <a:rPr sz="1200" b="0">
                          <a:solidFill>
                            <a:srgbClr val="1F2933"/>
                          </a:solidFill>
                          <a:latin typeface="Arial"/>
                        </a:rPr>
                        <a:t>26l</a:t>
                      </a:r>
                    </a:p>
                  </a:txBody>
                  <a:tcPr>
                    <a:solidFill>
                      <a:srgbClr val="F5F7FA"/>
                    </a:solidFill>
                  </a:tcPr>
                </a:tc>
                <a:tc>
                  <a:txBody>
                    <a:bodyPr/>
                    <a:lstStyle/>
                    <a:p>
                      <a:pPr algn="ctr"/>
                      <a:r>
                        <a:rPr sz="1200" b="0">
                          <a:solidFill>
                            <a:srgbClr val="1F2933"/>
                          </a:solidFill>
                          <a:latin typeface="Arial"/>
                        </a:rPr>
                        <a:t>Two-stage, large</a:t>
                      </a:r>
                    </a:p>
                  </a:txBody>
                  <a:tcPr>
                    <a:solidFill>
                      <a:srgbClr val="F5F7FA"/>
                    </a:solidFill>
                  </a:tcPr>
                </a:tc>
                <a:tc>
                  <a:txBody>
                    <a:bodyPr/>
                    <a:lstStyle/>
                    <a:p>
                      <a:pPr algn="ctr"/>
                      <a:r>
                        <a:rPr sz="1200" b="0">
                          <a:solidFill>
                            <a:srgbClr val="1F2933"/>
                          </a:solidFill>
                          <a:latin typeface="Arial"/>
                        </a:rPr>
                        <a:t>0.688</a:t>
                      </a:r>
                    </a:p>
                  </a:txBody>
                  <a:tcPr>
                    <a:solidFill>
                      <a:srgbClr val="F5F7FA"/>
                    </a:solidFill>
                  </a:tcPr>
                </a:tc>
                <a:tc>
                  <a:txBody>
                    <a:bodyPr/>
                    <a:lstStyle/>
                    <a:p>
                      <a:pPr algn="ctr"/>
                      <a:r>
                        <a:rPr sz="1200" b="0">
                          <a:solidFill>
                            <a:srgbClr val="1F2933"/>
                          </a:solidFill>
                          <a:latin typeface="Arial"/>
                        </a:rPr>
                        <a:t>0.457</a:t>
                      </a:r>
                    </a:p>
                  </a:txBody>
                  <a:tcPr>
                    <a:solidFill>
                      <a:srgbClr val="F5F7FA"/>
                    </a:solidFill>
                  </a:tcPr>
                </a:tc>
              </a:tr>
              <a:tr h="365760">
                <a:tc>
                  <a:txBody>
                    <a:bodyPr/>
                    <a:lstStyle/>
                    <a:p>
                      <a:pPr algn="l"/>
                      <a:r>
                        <a:rPr sz="1200" b="0">
                          <a:solidFill>
                            <a:srgbClr val="1F2933"/>
                          </a:solidFill>
                          <a:latin typeface="Arial"/>
                        </a:rPr>
                        <a:t>Run 24</a:t>
                      </a:r>
                    </a:p>
                  </a:txBody>
                  <a:tcPr>
                    <a:solidFill>
                      <a:srgbClr val="FFFFFF"/>
                    </a:solidFill>
                  </a:tcPr>
                </a:tc>
                <a:tc>
                  <a:txBody>
                    <a:bodyPr/>
                    <a:lstStyle/>
                    <a:p>
                      <a:pPr algn="ctr"/>
                      <a:r>
                        <a:rPr sz="1200" b="0">
                          <a:solidFill>
                            <a:srgbClr val="1F2933"/>
                          </a:solidFill>
                          <a:latin typeface="Arial"/>
                        </a:rPr>
                        <a:t>Tomato defects</a:t>
                      </a:r>
                    </a:p>
                  </a:txBody>
                  <a:tcPr>
                    <a:solidFill>
                      <a:srgbClr val="FFFFFF"/>
                    </a:solidFill>
                  </a:tcPr>
                </a:tc>
                <a:tc>
                  <a:txBody>
                    <a:bodyPr/>
                    <a:lstStyle/>
                    <a:p>
                      <a:pPr algn="ctr"/>
                      <a:r>
                        <a:rPr sz="1200" b="0">
                          <a:solidFill>
                            <a:srgbClr val="1F2933"/>
                          </a:solidFill>
                          <a:latin typeface="Arial"/>
                        </a:rPr>
                        <a:t>26l</a:t>
                      </a:r>
                    </a:p>
                  </a:txBody>
                  <a:tcPr>
                    <a:solidFill>
                      <a:srgbClr val="FFFFFF"/>
                    </a:solidFill>
                  </a:tcPr>
                </a:tc>
                <a:tc>
                  <a:txBody>
                    <a:bodyPr/>
                    <a:lstStyle/>
                    <a:p>
                      <a:pPr algn="ctr"/>
                      <a:r>
                        <a:rPr sz="1200" b="0">
                          <a:solidFill>
                            <a:srgbClr val="1F2933"/>
                          </a:solidFill>
                          <a:latin typeface="Arial"/>
                        </a:rPr>
                        <a:t>Two-stage, tomato</a:t>
                      </a:r>
                    </a:p>
                  </a:txBody>
                  <a:tcPr>
                    <a:solidFill>
                      <a:srgbClr val="FFFFFF"/>
                    </a:solidFill>
                  </a:tcPr>
                </a:tc>
                <a:tc>
                  <a:txBody>
                    <a:bodyPr/>
                    <a:lstStyle/>
                    <a:p>
                      <a:pPr algn="ctr"/>
                      <a:r>
                        <a:rPr sz="1200" b="0">
                          <a:solidFill>
                            <a:srgbClr val="1F2933"/>
                          </a:solidFill>
                          <a:latin typeface="Arial"/>
                        </a:rPr>
                        <a:t>0.494</a:t>
                      </a:r>
                    </a:p>
                  </a:txBody>
                  <a:tcPr>
                    <a:solidFill>
                      <a:srgbClr val="FFFFFF"/>
                    </a:solidFill>
                  </a:tcPr>
                </a:tc>
                <a:tc>
                  <a:txBody>
                    <a:bodyPr/>
                    <a:lstStyle/>
                    <a:p>
                      <a:pPr algn="ctr"/>
                      <a:r>
                        <a:rPr sz="1200" b="0">
                          <a:solidFill>
                            <a:srgbClr val="1F2933"/>
                          </a:solidFill>
                          <a:latin typeface="Arial"/>
                        </a:rPr>
                        <a:t>0.295</a:t>
                      </a:r>
                    </a:p>
                  </a:txBody>
                  <a:tcPr>
                    <a:solidFill>
                      <a:srgbClr val="FFFFFF"/>
                    </a:solidFill>
                  </a:tcPr>
                </a:tc>
              </a:tr>
              <a:tr h="365760">
                <a:tc>
                  <a:txBody>
                    <a:bodyPr/>
                    <a:lstStyle/>
                    <a:p>
                      <a:pPr algn="l"/>
                      <a:r>
                        <a:rPr sz="1200" b="0">
                          <a:solidFill>
                            <a:srgbClr val="1F2933"/>
                          </a:solidFill>
                          <a:latin typeface="Arial"/>
                        </a:rPr>
                        <a:t>Run 26</a:t>
                      </a:r>
                    </a:p>
                  </a:txBody>
                  <a:tcPr>
                    <a:solidFill>
                      <a:srgbClr val="F5F7FA"/>
                    </a:solidFill>
                  </a:tcPr>
                </a:tc>
                <a:tc>
                  <a:txBody>
                    <a:bodyPr/>
                    <a:lstStyle/>
                    <a:p>
                      <a:pPr algn="ctr"/>
                      <a:r>
                        <a:rPr sz="1200" b="0">
                          <a:solidFill>
                            <a:srgbClr val="1F2933"/>
                          </a:solidFill>
                          <a:latin typeface="Arial"/>
                        </a:rPr>
                        <a:t>Apple + tomato defects</a:t>
                      </a:r>
                    </a:p>
                  </a:txBody>
                  <a:tcPr>
                    <a:solidFill>
                      <a:srgbClr val="F5F7FA"/>
                    </a:solidFill>
                  </a:tcPr>
                </a:tc>
                <a:tc>
                  <a:txBody>
                    <a:bodyPr/>
                    <a:lstStyle/>
                    <a:p>
                      <a:pPr algn="ctr"/>
                      <a:r>
                        <a:rPr sz="1200" b="0">
                          <a:solidFill>
                            <a:srgbClr val="1F2933"/>
                          </a:solidFill>
                          <a:latin typeface="Arial"/>
                        </a:rPr>
                        <a:t>26l</a:t>
                      </a:r>
                    </a:p>
                  </a:txBody>
                  <a:tcPr>
                    <a:solidFill>
                      <a:srgbClr val="F5F7FA"/>
                    </a:solidFill>
                  </a:tcPr>
                </a:tc>
                <a:tc>
                  <a:txBody>
                    <a:bodyPr/>
                    <a:lstStyle/>
                    <a:p>
                      <a:pPr algn="ctr"/>
                      <a:r>
                        <a:rPr sz="1200" b="0">
                          <a:solidFill>
                            <a:srgbClr val="1F2933"/>
                          </a:solidFill>
                          <a:latin typeface="Arial"/>
                        </a:rPr>
                        <a:t>One model, both fruits</a:t>
                      </a:r>
                    </a:p>
                  </a:txBody>
                  <a:tcPr>
                    <a:solidFill>
                      <a:srgbClr val="F5F7FA"/>
                    </a:solidFill>
                  </a:tcPr>
                </a:tc>
                <a:tc>
                  <a:txBody>
                    <a:bodyPr/>
                    <a:lstStyle/>
                    <a:p>
                      <a:pPr algn="ctr"/>
                      <a:r>
                        <a:rPr sz="1200" b="0">
                          <a:solidFill>
                            <a:srgbClr val="1F2933"/>
                          </a:solidFill>
                          <a:latin typeface="Arial"/>
                        </a:rPr>
                        <a:t>0.600</a:t>
                      </a:r>
                    </a:p>
                  </a:txBody>
                  <a:tcPr>
                    <a:solidFill>
                      <a:srgbClr val="F5F7FA"/>
                    </a:solidFill>
                  </a:tcPr>
                </a:tc>
                <a:tc>
                  <a:txBody>
                    <a:bodyPr/>
                    <a:lstStyle/>
                    <a:p>
                      <a:pPr algn="ctr"/>
                      <a:r>
                        <a:rPr sz="1200" b="0">
                          <a:solidFill>
                            <a:srgbClr val="1F2933"/>
                          </a:solidFill>
                          <a:latin typeface="Arial"/>
                        </a:rPr>
                        <a:t>0.374</a:t>
                      </a:r>
                    </a:p>
                  </a:txBody>
                  <a:tcPr>
                    <a:solidFill>
                      <a:srgbClr val="F5F7FA"/>
                    </a:solidFill>
                  </a:tcPr>
                </a:tc>
              </a:tr>
            </a:tbl>
          </a:graphicData>
        </a:graphic>
      </p:graphicFrame>
      <p:sp>
        <p:nvSpPr>
          <p:cNvPr id="7" name="TextBox 6"/>
          <p:cNvSpPr txBox="1"/>
          <p:nvPr/>
        </p:nvSpPr>
        <p:spPr>
          <a:xfrm>
            <a:off x="548640" y="5486400"/>
            <a:ext cx="10972800" cy="914400"/>
          </a:xfrm>
          <a:prstGeom prst="rect">
            <a:avLst/>
          </a:prstGeom>
          <a:noFill/>
        </p:spPr>
        <p:txBody>
          <a:bodyPr wrap="square" anchor="t">
            <a:spAutoFit/>
          </a:bodyPr>
          <a:lstStyle/>
          <a:p>
            <a:pPr algn="l">
              <a:spcAft>
                <a:spcPts val="800"/>
              </a:spcAft>
            </a:pPr>
            <a:r>
              <a:rPr sz="1300" b="0">
                <a:solidFill>
                  <a:srgbClr val="52606D"/>
                </a:solidFill>
                <a:latin typeface="Arial"/>
              </a:rPr>
              <a:t>Joint runs average in the easy whole-fruit classes. Runs 20 and 22 report the three defect classes only so their lower number does not mean a worse model.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Same data, defects only</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15</a:t>
            </a:r>
          </a:p>
        </p:txBody>
      </p:sp>
      <p:pic>
        <p:nvPicPr>
          <p:cNvPr id="6" name="Picture 5" descr="defect_comparison.png"/>
          <p:cNvPicPr>
            <a:picLocks noChangeAspect="1"/>
          </p:cNvPicPr>
          <p:nvPr/>
        </p:nvPicPr>
        <p:blipFill>
          <a:blip r:embed="rId3"/>
          <a:stretch>
            <a:fillRect/>
          </a:stretch>
        </p:blipFill>
        <p:spPr>
          <a:xfrm>
            <a:off x="548640" y="1728216"/>
            <a:ext cx="6583680" cy="3950208"/>
          </a:xfrm>
          <a:prstGeom prst="rect">
            <a:avLst/>
          </a:prstGeom>
        </p:spPr>
      </p:pic>
      <p:sp>
        <p:nvSpPr>
          <p:cNvPr id="7" name="TextBox 6"/>
          <p:cNvSpPr txBox="1"/>
          <p:nvPr/>
        </p:nvSpPr>
        <p:spPr>
          <a:xfrm>
            <a:off x="7406640" y="1554480"/>
            <a:ext cx="4297680" cy="4389120"/>
          </a:xfrm>
          <a:prstGeom prst="rect">
            <a:avLst/>
          </a:prstGeom>
          <a:noFill/>
        </p:spPr>
        <p:txBody>
          <a:bodyPr wrap="square" anchor="t">
            <a:spAutoFit/>
          </a:bodyPr>
          <a:lstStyle/>
          <a:p>
            <a:pPr algn="l">
              <a:spcAft>
                <a:spcPts val="800"/>
              </a:spcAft>
            </a:pPr>
            <a:r>
              <a:rPr sz="1600" b="0">
                <a:solidFill>
                  <a:srgbClr val="1F2933"/>
                </a:solidFill>
                <a:latin typeface="Arial"/>
              </a:rPr>
              <a:t>•  Runs 14, 20, 22 use the same images and splits</a:t>
            </a:r>
          </a:p>
          <a:p>
            <a:pPr algn="l">
              <a:spcAft>
                <a:spcPts val="800"/>
              </a:spcAft>
            </a:pPr>
            <a:r>
              <a:rPr sz="1600" b="0">
                <a:solidFill>
                  <a:srgbClr val="1F2933"/>
                </a:solidFill>
                <a:latin typeface="Arial"/>
              </a:rPr>
              <a:t>•  Average defect mAP50 rose from 0.624 to 0.688</a:t>
            </a:r>
          </a:p>
          <a:p>
            <a:pPr algn="l">
              <a:spcAft>
                <a:spcPts val="800"/>
              </a:spcAft>
            </a:pPr>
            <a:r>
              <a:rPr sz="1600" b="0">
                <a:solidFill>
                  <a:srgbClr val="1F2933"/>
                </a:solidFill>
                <a:latin typeface="Arial"/>
              </a:rPr>
              <a:t>•  These runs also differ in size, optimizer and image size</a:t>
            </a:r>
          </a:p>
          <a:p>
            <a:pPr algn="l">
              <a:spcAft>
                <a:spcPts val="800"/>
              </a:spcAft>
            </a:pPr>
            <a:r>
              <a:rPr sz="1600" b="0">
                <a:solidFill>
                  <a:srgbClr val="1F2933"/>
                </a:solidFill>
                <a:latin typeface="Arial"/>
              </a:rPr>
              <a:t>•  So the gain is not proof that two stages alone helped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Stage 1 result: whole apple</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16</a:t>
            </a:r>
          </a:p>
        </p:txBody>
      </p:sp>
      <p:graphicFrame>
        <p:nvGraphicFramePr>
          <p:cNvPr id="6" name="Table 5"/>
          <p:cNvGraphicFramePr>
            <a:graphicFrameLocks noGrp="1"/>
          </p:cNvGraphicFramePr>
          <p:nvPr/>
        </p:nvGraphicFramePr>
        <p:xfrm>
          <a:off x="548640" y="1463040"/>
          <a:ext cx="4754880" cy="1920240"/>
        </p:xfrm>
        <a:graphic>
          <a:graphicData uri="http://schemas.openxmlformats.org/drawingml/2006/table">
            <a:tbl>
              <a:tblPr firstRow="1" bandRow="1">
                <a:tableStyleId>{5C22544A-7EE6-4342-B048-85BDC9FD1C3A}</a:tableStyleId>
              </a:tblPr>
              <a:tblGrid>
                <a:gridCol w="2743200"/>
                <a:gridCol w="2011680"/>
              </a:tblGrid>
              <a:tr h="384048">
                <a:tc>
                  <a:txBody>
                    <a:bodyPr/>
                    <a:lstStyle/>
                    <a:p>
                      <a:pPr algn="l"/>
                      <a:r>
                        <a:rPr sz="1300" b="1">
                          <a:solidFill>
                            <a:srgbClr val="FFFFFF"/>
                          </a:solidFill>
                          <a:latin typeface="Arial"/>
                        </a:rPr>
                        <a:t>Validation (215 images)</a:t>
                      </a:r>
                    </a:p>
                  </a:txBody>
                  <a:tcPr>
                    <a:solidFill>
                      <a:srgbClr val="1F2933"/>
                    </a:solidFill>
                  </a:tcPr>
                </a:tc>
                <a:tc>
                  <a:txBody>
                    <a:bodyPr/>
                    <a:lstStyle/>
                    <a:p>
                      <a:pPr algn="ctr"/>
                      <a:r>
                        <a:rPr sz="1300" b="1">
                          <a:solidFill>
                            <a:srgbClr val="FFFFFF"/>
                          </a:solidFill>
                          <a:latin typeface="Arial"/>
                        </a:rPr>
                        <a:t>Value</a:t>
                      </a:r>
                    </a:p>
                  </a:txBody>
                  <a:tcPr>
                    <a:solidFill>
                      <a:srgbClr val="1F2933"/>
                    </a:solidFill>
                  </a:tcPr>
                </a:tc>
              </a:tr>
              <a:tr h="384048">
                <a:tc>
                  <a:txBody>
                    <a:bodyPr/>
                    <a:lstStyle/>
                    <a:p>
                      <a:pPr algn="l"/>
                      <a:r>
                        <a:rPr sz="1300" b="0">
                          <a:solidFill>
                            <a:srgbClr val="1F2933"/>
                          </a:solidFill>
                          <a:latin typeface="Arial"/>
                        </a:rPr>
                        <a:t>Mask precision</a:t>
                      </a:r>
                    </a:p>
                  </a:txBody>
                  <a:tcPr>
                    <a:solidFill>
                      <a:srgbClr val="FFFFFF"/>
                    </a:solidFill>
                  </a:tcPr>
                </a:tc>
                <a:tc>
                  <a:txBody>
                    <a:bodyPr/>
                    <a:lstStyle/>
                    <a:p>
                      <a:pPr algn="ctr"/>
                      <a:r>
                        <a:rPr sz="1300" b="0">
                          <a:solidFill>
                            <a:srgbClr val="1F2933"/>
                          </a:solidFill>
                          <a:latin typeface="Arial"/>
                        </a:rPr>
                        <a:t>100.0%</a:t>
                      </a:r>
                    </a:p>
                  </a:txBody>
                  <a:tcPr>
                    <a:solidFill>
                      <a:srgbClr val="FFFFFF"/>
                    </a:solidFill>
                  </a:tcPr>
                </a:tc>
              </a:tr>
              <a:tr h="384048">
                <a:tc>
                  <a:txBody>
                    <a:bodyPr/>
                    <a:lstStyle/>
                    <a:p>
                      <a:pPr algn="l"/>
                      <a:r>
                        <a:rPr sz="1300" b="0">
                          <a:solidFill>
                            <a:srgbClr val="1F2933"/>
                          </a:solidFill>
                          <a:latin typeface="Arial"/>
                        </a:rPr>
                        <a:t>Mask recall</a:t>
                      </a:r>
                    </a:p>
                  </a:txBody>
                  <a:tcPr>
                    <a:solidFill>
                      <a:srgbClr val="F5F7FA"/>
                    </a:solidFill>
                  </a:tcPr>
                </a:tc>
                <a:tc>
                  <a:txBody>
                    <a:bodyPr/>
                    <a:lstStyle/>
                    <a:p>
                      <a:pPr algn="ctr"/>
                      <a:r>
                        <a:rPr sz="1300" b="0">
                          <a:solidFill>
                            <a:srgbClr val="1F2933"/>
                          </a:solidFill>
                          <a:latin typeface="Arial"/>
                        </a:rPr>
                        <a:t>98.6%</a:t>
                      </a:r>
                    </a:p>
                  </a:txBody>
                  <a:tcPr>
                    <a:solidFill>
                      <a:srgbClr val="F5F7FA"/>
                    </a:solidFill>
                  </a:tcPr>
                </a:tc>
              </a:tr>
              <a:tr h="384048">
                <a:tc>
                  <a:txBody>
                    <a:bodyPr/>
                    <a:lstStyle/>
                    <a:p>
                      <a:pPr algn="l"/>
                      <a:r>
                        <a:rPr sz="1300" b="0">
                          <a:solidFill>
                            <a:srgbClr val="1F2933"/>
                          </a:solidFill>
                          <a:latin typeface="Arial"/>
                        </a:rPr>
                        <a:t>Mask mAP50</a:t>
                      </a:r>
                    </a:p>
                  </a:txBody>
                  <a:tcPr>
                    <a:solidFill>
                      <a:srgbClr val="FFFFFF"/>
                    </a:solidFill>
                  </a:tcPr>
                </a:tc>
                <a:tc>
                  <a:txBody>
                    <a:bodyPr/>
                    <a:lstStyle/>
                    <a:p>
                      <a:pPr algn="ctr"/>
                      <a:r>
                        <a:rPr sz="1300" b="0">
                          <a:solidFill>
                            <a:srgbClr val="1F2933"/>
                          </a:solidFill>
                          <a:latin typeface="Arial"/>
                        </a:rPr>
                        <a:t>98.5%</a:t>
                      </a:r>
                    </a:p>
                  </a:txBody>
                  <a:tcPr>
                    <a:solidFill>
                      <a:srgbClr val="FFFFFF"/>
                    </a:solidFill>
                  </a:tcPr>
                </a:tc>
              </a:tr>
              <a:tr h="384048">
                <a:tc>
                  <a:txBody>
                    <a:bodyPr/>
                    <a:lstStyle/>
                    <a:p>
                      <a:pPr algn="l"/>
                      <a:r>
                        <a:rPr sz="1300" b="0">
                          <a:solidFill>
                            <a:srgbClr val="1F2933"/>
                          </a:solidFill>
                          <a:latin typeface="Arial"/>
                        </a:rPr>
                        <a:t>Mask mAP50-95</a:t>
                      </a:r>
                    </a:p>
                  </a:txBody>
                  <a:tcPr>
                    <a:solidFill>
                      <a:srgbClr val="F5F7FA"/>
                    </a:solidFill>
                  </a:tcPr>
                </a:tc>
                <a:tc>
                  <a:txBody>
                    <a:bodyPr/>
                    <a:lstStyle/>
                    <a:p>
                      <a:pPr algn="ctr"/>
                      <a:r>
                        <a:rPr sz="1300" b="0">
                          <a:solidFill>
                            <a:srgbClr val="1F2933"/>
                          </a:solidFill>
                          <a:latin typeface="Arial"/>
                        </a:rPr>
                        <a:t>98.5%</a:t>
                      </a:r>
                    </a:p>
                  </a:txBody>
                  <a:tcPr>
                    <a:solidFill>
                      <a:srgbClr val="F5F7FA"/>
                    </a:solidFill>
                  </a:tcPr>
                </a:tc>
              </a:tr>
            </a:tbl>
          </a:graphicData>
        </a:graphic>
      </p:graphicFrame>
      <p:pic>
        <p:nvPicPr>
          <p:cNvPr id="7" name="Picture 6" descr="val_batch0_pred.jpg"/>
          <p:cNvPicPr>
            <a:picLocks noChangeAspect="1"/>
          </p:cNvPicPr>
          <p:nvPr/>
        </p:nvPicPr>
        <p:blipFill>
          <a:blip r:embed="rId3"/>
          <a:stretch>
            <a:fillRect/>
          </a:stretch>
        </p:blipFill>
        <p:spPr>
          <a:xfrm>
            <a:off x="5669280" y="1485900"/>
            <a:ext cx="6035040" cy="45262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Stage 2 result: defects on validation</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17</a:t>
            </a:r>
          </a:p>
        </p:txBody>
      </p:sp>
      <p:graphicFrame>
        <p:nvGraphicFramePr>
          <p:cNvPr id="6" name="Table 5"/>
          <p:cNvGraphicFramePr>
            <a:graphicFrameLocks noGrp="1"/>
          </p:cNvGraphicFramePr>
          <p:nvPr/>
        </p:nvGraphicFramePr>
        <p:xfrm>
          <a:off x="548640" y="1463040"/>
          <a:ext cx="5486400" cy="1920240"/>
        </p:xfrm>
        <a:graphic>
          <a:graphicData uri="http://schemas.openxmlformats.org/drawingml/2006/table">
            <a:tbl>
              <a:tblPr firstRow="1" bandRow="1">
                <a:tableStyleId>{5C22544A-7EE6-4342-B048-85BDC9FD1C3A}</a:tableStyleId>
              </a:tblPr>
              <a:tblGrid>
                <a:gridCol w="1280160"/>
                <a:gridCol w="1051560"/>
                <a:gridCol w="1051560"/>
                <a:gridCol w="1051560"/>
                <a:gridCol w="1051560"/>
              </a:tblGrid>
              <a:tr h="384048">
                <a:tc>
                  <a:txBody>
                    <a:bodyPr/>
                    <a:lstStyle/>
                    <a:p>
                      <a:pPr algn="l"/>
                      <a:r>
                        <a:rPr sz="1300" b="1">
                          <a:solidFill>
                            <a:srgbClr val="FFFFFF"/>
                          </a:solidFill>
                          <a:latin typeface="Arial"/>
                        </a:rPr>
                        <a:t>Class</a:t>
                      </a:r>
                    </a:p>
                  </a:txBody>
                  <a:tcPr>
                    <a:solidFill>
                      <a:srgbClr val="1F2933"/>
                    </a:solidFill>
                  </a:tcPr>
                </a:tc>
                <a:tc>
                  <a:txBody>
                    <a:bodyPr/>
                    <a:lstStyle/>
                    <a:p>
                      <a:pPr algn="ctr"/>
                      <a:r>
                        <a:rPr sz="1300" b="1">
                          <a:solidFill>
                            <a:srgbClr val="FFFFFF"/>
                          </a:solidFill>
                          <a:latin typeface="Arial"/>
                        </a:rPr>
                        <a:t>Precision</a:t>
                      </a:r>
                    </a:p>
                  </a:txBody>
                  <a:tcPr>
                    <a:solidFill>
                      <a:srgbClr val="1F2933"/>
                    </a:solidFill>
                  </a:tcPr>
                </a:tc>
                <a:tc>
                  <a:txBody>
                    <a:bodyPr/>
                    <a:lstStyle/>
                    <a:p>
                      <a:pPr algn="ctr"/>
                      <a:r>
                        <a:rPr sz="1300" b="1">
                          <a:solidFill>
                            <a:srgbClr val="FFFFFF"/>
                          </a:solidFill>
                          <a:latin typeface="Arial"/>
                        </a:rPr>
                        <a:t>Recall</a:t>
                      </a:r>
                    </a:p>
                  </a:txBody>
                  <a:tcPr>
                    <a:solidFill>
                      <a:srgbClr val="1F2933"/>
                    </a:solidFill>
                  </a:tcPr>
                </a:tc>
                <a:tc>
                  <a:txBody>
                    <a:bodyPr/>
                    <a:lstStyle/>
                    <a:p>
                      <a:pPr algn="ctr"/>
                      <a:r>
                        <a:rPr sz="1300" b="1">
                          <a:solidFill>
                            <a:srgbClr val="FFFFFF"/>
                          </a:solidFill>
                          <a:latin typeface="Arial"/>
                        </a:rPr>
                        <a:t>mAP50</a:t>
                      </a:r>
                    </a:p>
                  </a:txBody>
                  <a:tcPr>
                    <a:solidFill>
                      <a:srgbClr val="1F2933"/>
                    </a:solidFill>
                  </a:tcPr>
                </a:tc>
                <a:tc>
                  <a:txBody>
                    <a:bodyPr/>
                    <a:lstStyle/>
                    <a:p>
                      <a:pPr algn="ctr"/>
                      <a:r>
                        <a:rPr sz="1300" b="1">
                          <a:solidFill>
                            <a:srgbClr val="FFFFFF"/>
                          </a:solidFill>
                          <a:latin typeface="Arial"/>
                        </a:rPr>
                        <a:t>mAP50-95</a:t>
                      </a:r>
                    </a:p>
                  </a:txBody>
                  <a:tcPr>
                    <a:solidFill>
                      <a:srgbClr val="1F2933"/>
                    </a:solidFill>
                  </a:tcPr>
                </a:tc>
              </a:tr>
              <a:tr h="384048">
                <a:tc>
                  <a:txBody>
                    <a:bodyPr/>
                    <a:lstStyle/>
                    <a:p>
                      <a:pPr algn="l"/>
                      <a:r>
                        <a:rPr sz="1300" b="0">
                          <a:solidFill>
                            <a:srgbClr val="1F2933"/>
                          </a:solidFill>
                          <a:latin typeface="Arial"/>
                        </a:rPr>
                        <a:t>Bruise</a:t>
                      </a:r>
                    </a:p>
                  </a:txBody>
                  <a:tcPr>
                    <a:solidFill>
                      <a:srgbClr val="FFFFFF"/>
                    </a:solidFill>
                  </a:tcPr>
                </a:tc>
                <a:tc>
                  <a:txBody>
                    <a:bodyPr/>
                    <a:lstStyle/>
                    <a:p>
                      <a:pPr algn="ctr"/>
                      <a:r>
                        <a:rPr sz="1300" b="0">
                          <a:solidFill>
                            <a:srgbClr val="1F2933"/>
                          </a:solidFill>
                          <a:latin typeface="Arial"/>
                        </a:rPr>
                        <a:t>0.847</a:t>
                      </a:r>
                    </a:p>
                  </a:txBody>
                  <a:tcPr>
                    <a:solidFill>
                      <a:srgbClr val="FFFFFF"/>
                    </a:solidFill>
                  </a:tcPr>
                </a:tc>
                <a:tc>
                  <a:txBody>
                    <a:bodyPr/>
                    <a:lstStyle/>
                    <a:p>
                      <a:pPr algn="ctr"/>
                      <a:r>
                        <a:rPr sz="1300" b="0">
                          <a:solidFill>
                            <a:srgbClr val="1F2933"/>
                          </a:solidFill>
                          <a:latin typeface="Arial"/>
                        </a:rPr>
                        <a:t>0.744</a:t>
                      </a:r>
                    </a:p>
                  </a:txBody>
                  <a:tcPr>
                    <a:solidFill>
                      <a:srgbClr val="FFFFFF"/>
                    </a:solidFill>
                  </a:tcPr>
                </a:tc>
                <a:tc>
                  <a:txBody>
                    <a:bodyPr/>
                    <a:lstStyle/>
                    <a:p>
                      <a:pPr algn="ctr"/>
                      <a:r>
                        <a:rPr sz="1300" b="0">
                          <a:solidFill>
                            <a:srgbClr val="1F2933"/>
                          </a:solidFill>
                          <a:latin typeface="Arial"/>
                        </a:rPr>
                        <a:t>0.777</a:t>
                      </a:r>
                    </a:p>
                  </a:txBody>
                  <a:tcPr>
                    <a:solidFill>
                      <a:srgbClr val="FFFFFF"/>
                    </a:solidFill>
                  </a:tcPr>
                </a:tc>
                <a:tc>
                  <a:txBody>
                    <a:bodyPr/>
                    <a:lstStyle/>
                    <a:p>
                      <a:pPr algn="ctr"/>
                      <a:r>
                        <a:rPr sz="1300" b="0">
                          <a:solidFill>
                            <a:srgbClr val="1F2933"/>
                          </a:solidFill>
                          <a:latin typeface="Arial"/>
                        </a:rPr>
                        <a:t>0.526</a:t>
                      </a:r>
                    </a:p>
                  </a:txBody>
                  <a:tcPr>
                    <a:solidFill>
                      <a:srgbClr val="FFFFFF"/>
                    </a:solidFill>
                  </a:tcPr>
                </a:tc>
              </a:tr>
              <a:tr h="384048">
                <a:tc>
                  <a:txBody>
                    <a:bodyPr/>
                    <a:lstStyle/>
                    <a:p>
                      <a:pPr algn="l"/>
                      <a:r>
                        <a:rPr sz="1300" b="0">
                          <a:solidFill>
                            <a:srgbClr val="1F2933"/>
                          </a:solidFill>
                          <a:latin typeface="Arial"/>
                        </a:rPr>
                        <a:t>Rot</a:t>
                      </a:r>
                    </a:p>
                  </a:txBody>
                  <a:tcPr>
                    <a:solidFill>
                      <a:srgbClr val="F5F7FA"/>
                    </a:solidFill>
                  </a:tcPr>
                </a:tc>
                <a:tc>
                  <a:txBody>
                    <a:bodyPr/>
                    <a:lstStyle/>
                    <a:p>
                      <a:pPr algn="ctr"/>
                      <a:r>
                        <a:rPr sz="1300" b="0">
                          <a:solidFill>
                            <a:srgbClr val="1F2933"/>
                          </a:solidFill>
                          <a:latin typeface="Arial"/>
                        </a:rPr>
                        <a:t>0.931</a:t>
                      </a:r>
                    </a:p>
                  </a:txBody>
                  <a:tcPr>
                    <a:solidFill>
                      <a:srgbClr val="F5F7FA"/>
                    </a:solidFill>
                  </a:tcPr>
                </a:tc>
                <a:tc>
                  <a:txBody>
                    <a:bodyPr/>
                    <a:lstStyle/>
                    <a:p>
                      <a:pPr algn="ctr"/>
                      <a:r>
                        <a:rPr sz="1300" b="0">
                          <a:solidFill>
                            <a:srgbClr val="1F2933"/>
                          </a:solidFill>
                          <a:latin typeface="Arial"/>
                        </a:rPr>
                        <a:t>0.713</a:t>
                      </a:r>
                    </a:p>
                  </a:txBody>
                  <a:tcPr>
                    <a:solidFill>
                      <a:srgbClr val="F5F7FA"/>
                    </a:solidFill>
                  </a:tcPr>
                </a:tc>
                <a:tc>
                  <a:txBody>
                    <a:bodyPr/>
                    <a:lstStyle/>
                    <a:p>
                      <a:pPr algn="ctr"/>
                      <a:r>
                        <a:rPr sz="1300" b="0">
                          <a:solidFill>
                            <a:srgbClr val="1F2933"/>
                          </a:solidFill>
                          <a:latin typeface="Arial"/>
                        </a:rPr>
                        <a:t>0.761</a:t>
                      </a:r>
                    </a:p>
                  </a:txBody>
                  <a:tcPr>
                    <a:solidFill>
                      <a:srgbClr val="F5F7FA"/>
                    </a:solidFill>
                  </a:tcPr>
                </a:tc>
                <a:tc>
                  <a:txBody>
                    <a:bodyPr/>
                    <a:lstStyle/>
                    <a:p>
                      <a:pPr algn="ctr"/>
                      <a:r>
                        <a:rPr sz="1300" b="0">
                          <a:solidFill>
                            <a:srgbClr val="1F2933"/>
                          </a:solidFill>
                          <a:latin typeface="Arial"/>
                        </a:rPr>
                        <a:t>0.591</a:t>
                      </a:r>
                    </a:p>
                  </a:txBody>
                  <a:tcPr>
                    <a:solidFill>
                      <a:srgbClr val="F5F7FA"/>
                    </a:solidFill>
                  </a:tcPr>
                </a:tc>
              </a:tr>
              <a:tr h="384048">
                <a:tc>
                  <a:txBody>
                    <a:bodyPr/>
                    <a:lstStyle/>
                    <a:p>
                      <a:pPr algn="l"/>
                      <a:r>
                        <a:rPr sz="1300" b="0">
                          <a:solidFill>
                            <a:srgbClr val="1F2933"/>
                          </a:solidFill>
                          <a:latin typeface="Arial"/>
                        </a:rPr>
                        <a:t>Surface</a:t>
                      </a:r>
                    </a:p>
                  </a:txBody>
                  <a:tcPr>
                    <a:solidFill>
                      <a:srgbClr val="FFFFFF"/>
                    </a:solidFill>
                  </a:tcPr>
                </a:tc>
                <a:tc>
                  <a:txBody>
                    <a:bodyPr/>
                    <a:lstStyle/>
                    <a:p>
                      <a:pPr algn="ctr"/>
                      <a:r>
                        <a:rPr sz="1300" b="0">
                          <a:solidFill>
                            <a:srgbClr val="1F2933"/>
                          </a:solidFill>
                          <a:latin typeface="Arial"/>
                        </a:rPr>
                        <a:t>0.648</a:t>
                      </a:r>
                    </a:p>
                  </a:txBody>
                  <a:tcPr>
                    <a:solidFill>
                      <a:srgbClr val="FFFFFF"/>
                    </a:solidFill>
                  </a:tcPr>
                </a:tc>
                <a:tc>
                  <a:txBody>
                    <a:bodyPr/>
                    <a:lstStyle/>
                    <a:p>
                      <a:pPr algn="ctr"/>
                      <a:r>
                        <a:rPr sz="1300" b="0">
                          <a:solidFill>
                            <a:srgbClr val="1F2933"/>
                          </a:solidFill>
                          <a:latin typeface="Arial"/>
                        </a:rPr>
                        <a:t>0.584</a:t>
                      </a:r>
                    </a:p>
                  </a:txBody>
                  <a:tcPr>
                    <a:solidFill>
                      <a:srgbClr val="FFFFFF"/>
                    </a:solidFill>
                  </a:tcPr>
                </a:tc>
                <a:tc>
                  <a:txBody>
                    <a:bodyPr/>
                    <a:lstStyle/>
                    <a:p>
                      <a:pPr algn="ctr"/>
                      <a:r>
                        <a:rPr sz="1300" b="0">
                          <a:solidFill>
                            <a:srgbClr val="1F2933"/>
                          </a:solidFill>
                          <a:latin typeface="Arial"/>
                        </a:rPr>
                        <a:t>0.527</a:t>
                      </a:r>
                    </a:p>
                  </a:txBody>
                  <a:tcPr>
                    <a:solidFill>
                      <a:srgbClr val="FFFFFF"/>
                    </a:solidFill>
                  </a:tcPr>
                </a:tc>
                <a:tc>
                  <a:txBody>
                    <a:bodyPr/>
                    <a:lstStyle/>
                    <a:p>
                      <a:pPr algn="ctr"/>
                      <a:r>
                        <a:rPr sz="1300" b="0">
                          <a:solidFill>
                            <a:srgbClr val="1F2933"/>
                          </a:solidFill>
                          <a:latin typeface="Arial"/>
                        </a:rPr>
                        <a:t>0.253</a:t>
                      </a:r>
                    </a:p>
                  </a:txBody>
                  <a:tcPr>
                    <a:solidFill>
                      <a:srgbClr val="FFFFFF"/>
                    </a:solidFill>
                  </a:tcPr>
                </a:tc>
              </a:tr>
              <a:tr h="384048">
                <a:tc>
                  <a:txBody>
                    <a:bodyPr/>
                    <a:lstStyle/>
                    <a:p>
                      <a:pPr algn="l"/>
                      <a:r>
                        <a:rPr sz="1300" b="0">
                          <a:solidFill>
                            <a:srgbClr val="1F2933"/>
                          </a:solidFill>
                          <a:latin typeface="Arial"/>
                        </a:rPr>
                        <a:t>All</a:t>
                      </a:r>
                    </a:p>
                  </a:txBody>
                  <a:tcPr>
                    <a:solidFill>
                      <a:srgbClr val="F5F7FA"/>
                    </a:solidFill>
                  </a:tcPr>
                </a:tc>
                <a:tc>
                  <a:txBody>
                    <a:bodyPr/>
                    <a:lstStyle/>
                    <a:p>
                      <a:pPr algn="ctr"/>
                      <a:r>
                        <a:rPr sz="1300" b="0">
                          <a:solidFill>
                            <a:srgbClr val="1F2933"/>
                          </a:solidFill>
                          <a:latin typeface="Arial"/>
                        </a:rPr>
                        <a:t>0.809</a:t>
                      </a:r>
                    </a:p>
                  </a:txBody>
                  <a:tcPr>
                    <a:solidFill>
                      <a:srgbClr val="F5F7FA"/>
                    </a:solidFill>
                  </a:tcPr>
                </a:tc>
                <a:tc>
                  <a:txBody>
                    <a:bodyPr/>
                    <a:lstStyle/>
                    <a:p>
                      <a:pPr algn="ctr"/>
                      <a:r>
                        <a:rPr sz="1300" b="0">
                          <a:solidFill>
                            <a:srgbClr val="1F2933"/>
                          </a:solidFill>
                          <a:latin typeface="Arial"/>
                        </a:rPr>
                        <a:t>0.680</a:t>
                      </a:r>
                    </a:p>
                  </a:txBody>
                  <a:tcPr>
                    <a:solidFill>
                      <a:srgbClr val="F5F7FA"/>
                    </a:solidFill>
                  </a:tcPr>
                </a:tc>
                <a:tc>
                  <a:txBody>
                    <a:bodyPr/>
                    <a:lstStyle/>
                    <a:p>
                      <a:pPr algn="ctr"/>
                      <a:r>
                        <a:rPr sz="1300" b="0">
                          <a:solidFill>
                            <a:srgbClr val="1F2933"/>
                          </a:solidFill>
                          <a:latin typeface="Arial"/>
                        </a:rPr>
                        <a:t>0.688</a:t>
                      </a:r>
                    </a:p>
                  </a:txBody>
                  <a:tcPr>
                    <a:solidFill>
                      <a:srgbClr val="F5F7FA"/>
                    </a:solidFill>
                  </a:tcPr>
                </a:tc>
                <a:tc>
                  <a:txBody>
                    <a:bodyPr/>
                    <a:lstStyle/>
                    <a:p>
                      <a:pPr algn="ctr"/>
                      <a:r>
                        <a:rPr sz="1300" b="0">
                          <a:solidFill>
                            <a:srgbClr val="1F2933"/>
                          </a:solidFill>
                          <a:latin typeface="Arial"/>
                        </a:rPr>
                        <a:t>0.457</a:t>
                      </a:r>
                    </a:p>
                  </a:txBody>
                  <a:tcPr>
                    <a:solidFill>
                      <a:srgbClr val="F5F7FA"/>
                    </a:solidFill>
                  </a:tcPr>
                </a:tc>
              </a:tr>
            </a:tbl>
          </a:graphicData>
        </a:graphic>
      </p:graphicFrame>
      <p:pic>
        <p:nvPicPr>
          <p:cNvPr id="7" name="Picture 6" descr="MaskPR_curve.png"/>
          <p:cNvPicPr>
            <a:picLocks noChangeAspect="1"/>
          </p:cNvPicPr>
          <p:nvPr/>
        </p:nvPicPr>
        <p:blipFill>
          <a:blip r:embed="rId3"/>
          <a:stretch>
            <a:fillRect/>
          </a:stretch>
        </p:blipFill>
        <p:spPr>
          <a:xfrm>
            <a:off x="6400800" y="1981200"/>
            <a:ext cx="5303520" cy="35356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Confusion matrices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18</a:t>
            </a:r>
          </a:p>
        </p:txBody>
      </p:sp>
      <p:pic>
        <p:nvPicPr>
          <p:cNvPr id="6" name="Picture 5" descr="confusion_matrix_normalized.png"/>
          <p:cNvPicPr>
            <a:picLocks noChangeAspect="1"/>
          </p:cNvPicPr>
          <p:nvPr/>
        </p:nvPicPr>
        <p:blipFill>
          <a:blip r:embed="rId3"/>
          <a:stretch>
            <a:fillRect/>
          </a:stretch>
        </p:blipFill>
        <p:spPr>
          <a:xfrm>
            <a:off x="518160" y="1280160"/>
            <a:ext cx="5364480" cy="4023360"/>
          </a:xfrm>
          <a:prstGeom prst="rect">
            <a:avLst/>
          </a:prstGeom>
        </p:spPr>
      </p:pic>
      <p:pic>
        <p:nvPicPr>
          <p:cNvPr id="7" name="Picture 6" descr="confusion_matrix_normalized.png"/>
          <p:cNvPicPr>
            <a:picLocks noChangeAspect="1"/>
          </p:cNvPicPr>
          <p:nvPr/>
        </p:nvPicPr>
        <p:blipFill>
          <a:blip r:embed="rId4"/>
          <a:stretch>
            <a:fillRect/>
          </a:stretch>
        </p:blipFill>
        <p:spPr>
          <a:xfrm>
            <a:off x="6278880" y="1280160"/>
            <a:ext cx="5364480" cy="4023360"/>
          </a:xfrm>
          <a:prstGeom prst="rect">
            <a:avLst/>
          </a:prstGeom>
        </p:spPr>
      </p:pic>
      <p:sp>
        <p:nvSpPr>
          <p:cNvPr id="8" name="TextBox 7"/>
          <p:cNvSpPr txBox="1"/>
          <p:nvPr/>
        </p:nvSpPr>
        <p:spPr>
          <a:xfrm>
            <a:off x="548640" y="5303520"/>
            <a:ext cx="5486400" cy="365760"/>
          </a:xfrm>
          <a:prstGeom prst="rect">
            <a:avLst/>
          </a:prstGeom>
          <a:noFill/>
        </p:spPr>
        <p:txBody>
          <a:bodyPr wrap="square" anchor="t">
            <a:spAutoFit/>
          </a:bodyPr>
          <a:lstStyle/>
          <a:p>
            <a:pPr algn="ctr">
              <a:spcAft>
                <a:spcPts val="800"/>
              </a:spcAft>
            </a:pPr>
            <a:r>
              <a:rPr sz="1300" b="0">
                <a:solidFill>
                  <a:srgbClr val="52606D"/>
                </a:solidFill>
                <a:latin typeface="Arial"/>
              </a:rPr>
              <a:t>Validation (215 images)</a:t>
            </a:r>
          </a:p>
        </p:txBody>
      </p:sp>
      <p:sp>
        <p:nvSpPr>
          <p:cNvPr id="9" name="TextBox 8"/>
          <p:cNvSpPr txBox="1"/>
          <p:nvPr/>
        </p:nvSpPr>
        <p:spPr>
          <a:xfrm>
            <a:off x="6309360" y="5303520"/>
            <a:ext cx="5486400" cy="365760"/>
          </a:xfrm>
          <a:prstGeom prst="rect">
            <a:avLst/>
          </a:prstGeom>
          <a:noFill/>
        </p:spPr>
        <p:txBody>
          <a:bodyPr wrap="square" anchor="t">
            <a:spAutoFit/>
          </a:bodyPr>
          <a:lstStyle/>
          <a:p>
            <a:pPr algn="ctr">
              <a:spcAft>
                <a:spcPts val="800"/>
              </a:spcAft>
            </a:pPr>
            <a:r>
              <a:rPr sz="1300" b="0">
                <a:solidFill>
                  <a:srgbClr val="52606D"/>
                </a:solidFill>
                <a:latin typeface="Arial"/>
              </a:rPr>
              <a:t>Unseen test (79 images)</a:t>
            </a:r>
          </a:p>
        </p:txBody>
      </p:sp>
      <p:sp>
        <p:nvSpPr>
          <p:cNvPr id="10" name="TextBox 9"/>
          <p:cNvSpPr txBox="1"/>
          <p:nvPr/>
        </p:nvSpPr>
        <p:spPr>
          <a:xfrm>
            <a:off x="548640" y="5669280"/>
            <a:ext cx="11155680" cy="731520"/>
          </a:xfrm>
          <a:prstGeom prst="rect">
            <a:avLst/>
          </a:prstGeom>
          <a:noFill/>
        </p:spPr>
        <p:txBody>
          <a:bodyPr wrap="square" anchor="t">
            <a:spAutoFit/>
          </a:bodyPr>
          <a:lstStyle/>
          <a:p>
            <a:pPr algn="l">
              <a:spcAft>
                <a:spcPts val="800"/>
              </a:spcAft>
            </a:pPr>
            <a:r>
              <a:rPr sz="1300" b="0">
                <a:solidFill>
                  <a:srgbClr val="1F2933"/>
                </a:solidFill>
                <a:latin typeface="Arial"/>
              </a:rPr>
              <a:t>Columns are true classes. Main error: defects missed as background. Bruise and rot rarely confused (4% or less). Validation false alarms are mostly surface damage.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Learning curves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19</a:t>
            </a:r>
          </a:p>
        </p:txBody>
      </p:sp>
      <p:pic>
        <p:nvPicPr>
          <p:cNvPr id="6" name="Picture 5" descr="learning_curves.png"/>
          <p:cNvPicPr>
            <a:picLocks noChangeAspect="1"/>
          </p:cNvPicPr>
          <p:nvPr/>
        </p:nvPicPr>
        <p:blipFill>
          <a:blip r:embed="rId3"/>
          <a:stretch>
            <a:fillRect/>
          </a:stretch>
        </p:blipFill>
        <p:spPr>
          <a:xfrm>
            <a:off x="365760" y="1297745"/>
            <a:ext cx="11429999" cy="3165230"/>
          </a:xfrm>
          <a:prstGeom prst="rect">
            <a:avLst/>
          </a:prstGeom>
        </p:spPr>
      </p:pic>
      <p:sp>
        <p:nvSpPr>
          <p:cNvPr id="7" name="TextBox 6"/>
          <p:cNvSpPr txBox="1"/>
          <p:nvPr/>
        </p:nvSpPr>
        <p:spPr>
          <a:xfrm>
            <a:off x="548640" y="4663440"/>
            <a:ext cx="10972800" cy="1554480"/>
          </a:xfrm>
          <a:prstGeom prst="rect">
            <a:avLst/>
          </a:prstGeom>
          <a:noFill/>
        </p:spPr>
        <p:txBody>
          <a:bodyPr wrap="square" anchor="t">
            <a:spAutoFit/>
          </a:bodyPr>
          <a:lstStyle/>
          <a:p>
            <a:pPr algn="l">
              <a:spcAft>
                <a:spcPts val="800"/>
              </a:spcAft>
            </a:pPr>
            <a:r>
              <a:rPr sz="1500" b="0">
                <a:solidFill>
                  <a:srgbClr val="1F2933"/>
                </a:solidFill>
                <a:latin typeface="Arial"/>
              </a:rPr>
              <a:t>•  Training loss falls smoothly. Validation mAP levels off after about 30 epochs</a:t>
            </a:r>
          </a:p>
          <a:p>
            <a:pPr algn="l">
              <a:spcAft>
                <a:spcPts val="800"/>
              </a:spcAft>
            </a:pPr>
            <a:r>
              <a:rPr sz="1500" b="0">
                <a:solidFill>
                  <a:srgbClr val="1F2933"/>
                </a:solidFill>
                <a:latin typeface="Arial"/>
              </a:rPr>
              <a:t>•  Early stopping ended the runs before a long decline</a:t>
            </a:r>
          </a:p>
          <a:p>
            <a:pPr algn="l">
              <a:spcAft>
                <a:spcPts val="800"/>
              </a:spcAft>
            </a:pPr>
            <a:r>
              <a:rPr sz="1500" b="0">
                <a:solidFill>
                  <a:srgbClr val="1F2933"/>
                </a:solidFill>
                <a:latin typeface="Arial"/>
              </a:rPr>
              <a:t>•  Tomato (Run 24) overfits: validation seg loss is lowest near epoch 26 then rises</a:t>
            </a:r>
          </a:p>
          <a:p>
            <a:pPr algn="l">
              <a:spcAft>
                <a:spcPts val="800"/>
              </a:spcAft>
            </a:pPr>
            <a:r>
              <a:rPr sz="1500" b="0">
                <a:solidFill>
                  <a:srgbClr val="1F2933"/>
                </a:solidFill>
                <a:latin typeface="Arial"/>
              </a:rPr>
              <a:t>•  Ultralytics results.png for every run is in runs/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Unseen test set</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20</a:t>
            </a:r>
          </a:p>
        </p:txBody>
      </p:sp>
      <p:graphicFrame>
        <p:nvGraphicFramePr>
          <p:cNvPr id="6" name="Table 5"/>
          <p:cNvGraphicFramePr>
            <a:graphicFrameLocks noGrp="1"/>
          </p:cNvGraphicFramePr>
          <p:nvPr/>
        </p:nvGraphicFramePr>
        <p:xfrm>
          <a:off x="548640" y="1463040"/>
          <a:ext cx="6400800" cy="1920240"/>
        </p:xfrm>
        <a:graphic>
          <a:graphicData uri="http://schemas.openxmlformats.org/drawingml/2006/table">
            <a:tbl>
              <a:tblPr firstRow="1" bandRow="1">
                <a:tableStyleId>{5C22544A-7EE6-4342-B048-85BDC9FD1C3A}</a:tableStyleId>
              </a:tblPr>
              <a:tblGrid>
                <a:gridCol w="2194560"/>
                <a:gridCol w="2011680"/>
                <a:gridCol w="2194560"/>
              </a:tblGrid>
              <a:tr h="384048">
                <a:tc>
                  <a:txBody>
                    <a:bodyPr/>
                    <a:lstStyle/>
                    <a:p>
                      <a:pPr algn="l"/>
                      <a:r>
                        <a:rPr sz="1300" b="1">
                          <a:solidFill>
                            <a:srgbClr val="FFFFFF"/>
                          </a:solidFill>
                          <a:latin typeface="Arial"/>
                        </a:rPr>
                        <a:t>Metric</a:t>
                      </a:r>
                    </a:p>
                  </a:txBody>
                  <a:tcPr>
                    <a:solidFill>
                      <a:srgbClr val="1F2933"/>
                    </a:solidFill>
                  </a:tcPr>
                </a:tc>
                <a:tc>
                  <a:txBody>
                    <a:bodyPr/>
                    <a:lstStyle/>
                    <a:p>
                      <a:pPr algn="ctr"/>
                      <a:r>
                        <a:rPr sz="1300" b="1">
                          <a:solidFill>
                            <a:srgbClr val="FFFFFF"/>
                          </a:solidFill>
                          <a:latin typeface="Arial"/>
                        </a:rPr>
                        <a:t>Validation</a:t>
                      </a:r>
                    </a:p>
                  </a:txBody>
                  <a:tcPr>
                    <a:solidFill>
                      <a:srgbClr val="1F2933"/>
                    </a:solidFill>
                  </a:tcPr>
                </a:tc>
                <a:tc>
                  <a:txBody>
                    <a:bodyPr/>
                    <a:lstStyle/>
                    <a:p>
                      <a:pPr algn="ctr"/>
                      <a:r>
                        <a:rPr sz="1300" b="1">
                          <a:solidFill>
                            <a:srgbClr val="FFFFFF"/>
                          </a:solidFill>
                          <a:latin typeface="Arial"/>
                        </a:rPr>
                        <a:t>Test (79 images)</a:t>
                      </a:r>
                    </a:p>
                  </a:txBody>
                  <a:tcPr>
                    <a:solidFill>
                      <a:srgbClr val="1F2933"/>
                    </a:solidFill>
                  </a:tcPr>
                </a:tc>
              </a:tr>
              <a:tr h="384048">
                <a:tc>
                  <a:txBody>
                    <a:bodyPr/>
                    <a:lstStyle/>
                    <a:p>
                      <a:pPr algn="l"/>
                      <a:r>
                        <a:rPr sz="1300" b="0">
                          <a:solidFill>
                            <a:srgbClr val="1F2933"/>
                          </a:solidFill>
                          <a:latin typeface="Arial"/>
                        </a:rPr>
                        <a:t>Mask precision</a:t>
                      </a:r>
                    </a:p>
                  </a:txBody>
                  <a:tcPr>
                    <a:solidFill>
                      <a:srgbClr val="FFFFFF"/>
                    </a:solidFill>
                  </a:tcPr>
                </a:tc>
                <a:tc>
                  <a:txBody>
                    <a:bodyPr/>
                    <a:lstStyle/>
                    <a:p>
                      <a:pPr algn="ctr"/>
                      <a:r>
                        <a:rPr sz="1300" b="0">
                          <a:solidFill>
                            <a:srgbClr val="1F2933"/>
                          </a:solidFill>
                          <a:latin typeface="Arial"/>
                        </a:rPr>
                        <a:t>0.809</a:t>
                      </a:r>
                    </a:p>
                  </a:txBody>
                  <a:tcPr>
                    <a:solidFill>
                      <a:srgbClr val="FFFFFF"/>
                    </a:solidFill>
                  </a:tcPr>
                </a:tc>
                <a:tc>
                  <a:txBody>
                    <a:bodyPr/>
                    <a:lstStyle/>
                    <a:p>
                      <a:pPr algn="ctr"/>
                      <a:r>
                        <a:rPr sz="1300" b="0">
                          <a:solidFill>
                            <a:srgbClr val="1F2933"/>
                          </a:solidFill>
                          <a:latin typeface="Arial"/>
                        </a:rPr>
                        <a:t>0.718</a:t>
                      </a:r>
                    </a:p>
                  </a:txBody>
                  <a:tcPr>
                    <a:solidFill>
                      <a:srgbClr val="FFFFFF"/>
                    </a:solidFill>
                  </a:tcPr>
                </a:tc>
              </a:tr>
              <a:tr h="384048">
                <a:tc>
                  <a:txBody>
                    <a:bodyPr/>
                    <a:lstStyle/>
                    <a:p>
                      <a:pPr algn="l"/>
                      <a:r>
                        <a:rPr sz="1300" b="0">
                          <a:solidFill>
                            <a:srgbClr val="1F2933"/>
                          </a:solidFill>
                          <a:latin typeface="Arial"/>
                        </a:rPr>
                        <a:t>Mask recall</a:t>
                      </a:r>
                    </a:p>
                  </a:txBody>
                  <a:tcPr>
                    <a:solidFill>
                      <a:srgbClr val="F5F7FA"/>
                    </a:solidFill>
                  </a:tcPr>
                </a:tc>
                <a:tc>
                  <a:txBody>
                    <a:bodyPr/>
                    <a:lstStyle/>
                    <a:p>
                      <a:pPr algn="ctr"/>
                      <a:r>
                        <a:rPr sz="1300" b="0">
                          <a:solidFill>
                            <a:srgbClr val="1F2933"/>
                          </a:solidFill>
                          <a:latin typeface="Arial"/>
                        </a:rPr>
                        <a:t>0.680</a:t>
                      </a:r>
                    </a:p>
                  </a:txBody>
                  <a:tcPr>
                    <a:solidFill>
                      <a:srgbClr val="F5F7FA"/>
                    </a:solidFill>
                  </a:tcPr>
                </a:tc>
                <a:tc>
                  <a:txBody>
                    <a:bodyPr/>
                    <a:lstStyle/>
                    <a:p>
                      <a:pPr algn="ctr"/>
                      <a:r>
                        <a:rPr sz="1300" b="0">
                          <a:solidFill>
                            <a:srgbClr val="1F2933"/>
                          </a:solidFill>
                          <a:latin typeface="Arial"/>
                        </a:rPr>
                        <a:t>0.597</a:t>
                      </a:r>
                    </a:p>
                  </a:txBody>
                  <a:tcPr>
                    <a:solidFill>
                      <a:srgbClr val="F5F7FA"/>
                    </a:solidFill>
                  </a:tcPr>
                </a:tc>
              </a:tr>
              <a:tr h="384048">
                <a:tc>
                  <a:txBody>
                    <a:bodyPr/>
                    <a:lstStyle/>
                    <a:p>
                      <a:pPr algn="l"/>
                      <a:r>
                        <a:rPr sz="1300" b="0">
                          <a:solidFill>
                            <a:srgbClr val="1F2933"/>
                          </a:solidFill>
                          <a:latin typeface="Arial"/>
                        </a:rPr>
                        <a:t>Mask mAP50</a:t>
                      </a:r>
                    </a:p>
                  </a:txBody>
                  <a:tcPr>
                    <a:solidFill>
                      <a:srgbClr val="FFFFFF"/>
                    </a:solidFill>
                  </a:tcPr>
                </a:tc>
                <a:tc>
                  <a:txBody>
                    <a:bodyPr/>
                    <a:lstStyle/>
                    <a:p>
                      <a:pPr algn="ctr"/>
                      <a:r>
                        <a:rPr sz="1300" b="0">
                          <a:solidFill>
                            <a:srgbClr val="1F2933"/>
                          </a:solidFill>
                          <a:latin typeface="Arial"/>
                        </a:rPr>
                        <a:t>0.688</a:t>
                      </a:r>
                    </a:p>
                  </a:txBody>
                  <a:tcPr>
                    <a:solidFill>
                      <a:srgbClr val="FFFFFF"/>
                    </a:solidFill>
                  </a:tcPr>
                </a:tc>
                <a:tc>
                  <a:txBody>
                    <a:bodyPr/>
                    <a:lstStyle/>
                    <a:p>
                      <a:pPr algn="ctr"/>
                      <a:r>
                        <a:rPr sz="1300" b="0">
                          <a:solidFill>
                            <a:srgbClr val="1F2933"/>
                          </a:solidFill>
                          <a:latin typeface="Arial"/>
                        </a:rPr>
                        <a:t>0.613</a:t>
                      </a:r>
                    </a:p>
                  </a:txBody>
                  <a:tcPr>
                    <a:solidFill>
                      <a:srgbClr val="FFFFFF"/>
                    </a:solidFill>
                  </a:tcPr>
                </a:tc>
              </a:tr>
              <a:tr h="384048">
                <a:tc>
                  <a:txBody>
                    <a:bodyPr/>
                    <a:lstStyle/>
                    <a:p>
                      <a:pPr algn="l"/>
                      <a:r>
                        <a:rPr sz="1300" b="0">
                          <a:solidFill>
                            <a:srgbClr val="1F2933"/>
                          </a:solidFill>
                          <a:latin typeface="Arial"/>
                        </a:rPr>
                        <a:t>Mask mAP50-95</a:t>
                      </a:r>
                    </a:p>
                  </a:txBody>
                  <a:tcPr>
                    <a:solidFill>
                      <a:srgbClr val="F5F7FA"/>
                    </a:solidFill>
                  </a:tcPr>
                </a:tc>
                <a:tc>
                  <a:txBody>
                    <a:bodyPr/>
                    <a:lstStyle/>
                    <a:p>
                      <a:pPr algn="ctr"/>
                      <a:r>
                        <a:rPr sz="1300" b="0">
                          <a:solidFill>
                            <a:srgbClr val="1F2933"/>
                          </a:solidFill>
                          <a:latin typeface="Arial"/>
                        </a:rPr>
                        <a:t>0.457</a:t>
                      </a:r>
                    </a:p>
                  </a:txBody>
                  <a:tcPr>
                    <a:solidFill>
                      <a:srgbClr val="F5F7FA"/>
                    </a:solidFill>
                  </a:tcPr>
                </a:tc>
                <a:tc>
                  <a:txBody>
                    <a:bodyPr/>
                    <a:lstStyle/>
                    <a:p>
                      <a:pPr algn="ctr"/>
                      <a:r>
                        <a:rPr sz="1300" b="0">
                          <a:solidFill>
                            <a:srgbClr val="1F2933"/>
                          </a:solidFill>
                          <a:latin typeface="Arial"/>
                        </a:rPr>
                        <a:t>0.411</a:t>
                      </a:r>
                    </a:p>
                  </a:txBody>
                  <a:tcPr>
                    <a:solidFill>
                      <a:srgbClr val="F5F7FA"/>
                    </a:solidFill>
                  </a:tcPr>
                </a:tc>
              </a:tr>
            </a:tbl>
          </a:graphicData>
        </a:graphic>
      </p:graphicFrame>
      <p:graphicFrame>
        <p:nvGraphicFramePr>
          <p:cNvPr id="7" name="Table 6"/>
          <p:cNvGraphicFramePr>
            <a:graphicFrameLocks noGrp="1"/>
          </p:cNvGraphicFramePr>
          <p:nvPr/>
        </p:nvGraphicFramePr>
        <p:xfrm>
          <a:off x="548640" y="3749039"/>
          <a:ext cx="6400800" cy="1536192"/>
        </p:xfrm>
        <a:graphic>
          <a:graphicData uri="http://schemas.openxmlformats.org/drawingml/2006/table">
            <a:tbl>
              <a:tblPr firstRow="1" bandRow="1">
                <a:tableStyleId>{5C22544A-7EE6-4342-B048-85BDC9FD1C3A}</a:tableStyleId>
              </a:tblPr>
              <a:tblGrid>
                <a:gridCol w="2194560"/>
                <a:gridCol w="2011680"/>
                <a:gridCol w="2194560"/>
              </a:tblGrid>
              <a:tr h="384048">
                <a:tc>
                  <a:txBody>
                    <a:bodyPr/>
                    <a:lstStyle/>
                    <a:p>
                      <a:pPr algn="l"/>
                      <a:r>
                        <a:rPr sz="1300" b="1">
                          <a:solidFill>
                            <a:srgbClr val="FFFFFF"/>
                          </a:solidFill>
                          <a:latin typeface="Arial"/>
                        </a:rPr>
                        <a:t>Class</a:t>
                      </a:r>
                    </a:p>
                  </a:txBody>
                  <a:tcPr>
                    <a:solidFill>
                      <a:srgbClr val="1F2933"/>
                    </a:solidFill>
                  </a:tcPr>
                </a:tc>
                <a:tc>
                  <a:txBody>
                    <a:bodyPr/>
                    <a:lstStyle/>
                    <a:p>
                      <a:pPr algn="ctr"/>
                      <a:r>
                        <a:rPr sz="1300" b="1">
                          <a:solidFill>
                            <a:srgbClr val="FFFFFF"/>
                          </a:solidFill>
                          <a:latin typeface="Arial"/>
                        </a:rPr>
                        <a:t>Val mAP50</a:t>
                      </a:r>
                    </a:p>
                  </a:txBody>
                  <a:tcPr>
                    <a:solidFill>
                      <a:srgbClr val="1F2933"/>
                    </a:solidFill>
                  </a:tcPr>
                </a:tc>
                <a:tc>
                  <a:txBody>
                    <a:bodyPr/>
                    <a:lstStyle/>
                    <a:p>
                      <a:pPr algn="ctr"/>
                      <a:r>
                        <a:rPr sz="1300" b="1">
                          <a:solidFill>
                            <a:srgbClr val="FFFFFF"/>
                          </a:solidFill>
                          <a:latin typeface="Arial"/>
                        </a:rPr>
                        <a:t>Test mAP50</a:t>
                      </a:r>
                    </a:p>
                  </a:txBody>
                  <a:tcPr>
                    <a:solidFill>
                      <a:srgbClr val="1F2933"/>
                    </a:solidFill>
                  </a:tcPr>
                </a:tc>
              </a:tr>
              <a:tr h="384048">
                <a:tc>
                  <a:txBody>
                    <a:bodyPr/>
                    <a:lstStyle/>
                    <a:p>
                      <a:pPr algn="l"/>
                      <a:r>
                        <a:rPr sz="1300" b="0">
                          <a:solidFill>
                            <a:srgbClr val="1F2933"/>
                          </a:solidFill>
                          <a:latin typeface="Arial"/>
                        </a:rPr>
                        <a:t>Bruise</a:t>
                      </a:r>
                    </a:p>
                  </a:txBody>
                  <a:tcPr>
                    <a:solidFill>
                      <a:srgbClr val="FFFFFF"/>
                    </a:solidFill>
                  </a:tcPr>
                </a:tc>
                <a:tc>
                  <a:txBody>
                    <a:bodyPr/>
                    <a:lstStyle/>
                    <a:p>
                      <a:pPr algn="ctr"/>
                      <a:r>
                        <a:rPr sz="1300" b="0">
                          <a:solidFill>
                            <a:srgbClr val="1F2933"/>
                          </a:solidFill>
                          <a:latin typeface="Arial"/>
                        </a:rPr>
                        <a:t>0.777</a:t>
                      </a:r>
                    </a:p>
                  </a:txBody>
                  <a:tcPr>
                    <a:solidFill>
                      <a:srgbClr val="FFFFFF"/>
                    </a:solidFill>
                  </a:tcPr>
                </a:tc>
                <a:tc>
                  <a:txBody>
                    <a:bodyPr/>
                    <a:lstStyle/>
                    <a:p>
                      <a:pPr algn="ctr"/>
                      <a:r>
                        <a:rPr sz="1300" b="0">
                          <a:solidFill>
                            <a:srgbClr val="1F2933"/>
                          </a:solidFill>
                          <a:latin typeface="Arial"/>
                        </a:rPr>
                        <a:t>0.594</a:t>
                      </a:r>
                    </a:p>
                  </a:txBody>
                  <a:tcPr>
                    <a:solidFill>
                      <a:srgbClr val="FFFFFF"/>
                    </a:solidFill>
                  </a:tcPr>
                </a:tc>
              </a:tr>
              <a:tr h="384048">
                <a:tc>
                  <a:txBody>
                    <a:bodyPr/>
                    <a:lstStyle/>
                    <a:p>
                      <a:pPr algn="l"/>
                      <a:r>
                        <a:rPr sz="1300" b="0">
                          <a:solidFill>
                            <a:srgbClr val="1F2933"/>
                          </a:solidFill>
                          <a:latin typeface="Arial"/>
                        </a:rPr>
                        <a:t>Rot</a:t>
                      </a:r>
                    </a:p>
                  </a:txBody>
                  <a:tcPr>
                    <a:solidFill>
                      <a:srgbClr val="F5F7FA"/>
                    </a:solidFill>
                  </a:tcPr>
                </a:tc>
                <a:tc>
                  <a:txBody>
                    <a:bodyPr/>
                    <a:lstStyle/>
                    <a:p>
                      <a:pPr algn="ctr"/>
                      <a:r>
                        <a:rPr sz="1300" b="0">
                          <a:solidFill>
                            <a:srgbClr val="1F2933"/>
                          </a:solidFill>
                          <a:latin typeface="Arial"/>
                        </a:rPr>
                        <a:t>0.761</a:t>
                      </a:r>
                    </a:p>
                  </a:txBody>
                  <a:tcPr>
                    <a:solidFill>
                      <a:srgbClr val="F5F7FA"/>
                    </a:solidFill>
                  </a:tcPr>
                </a:tc>
                <a:tc>
                  <a:txBody>
                    <a:bodyPr/>
                    <a:lstStyle/>
                    <a:p>
                      <a:pPr algn="ctr"/>
                      <a:r>
                        <a:rPr sz="1300" b="0">
                          <a:solidFill>
                            <a:srgbClr val="1F2933"/>
                          </a:solidFill>
                          <a:latin typeface="Arial"/>
                        </a:rPr>
                        <a:t>0.732</a:t>
                      </a:r>
                    </a:p>
                  </a:txBody>
                  <a:tcPr>
                    <a:solidFill>
                      <a:srgbClr val="F5F7FA"/>
                    </a:solidFill>
                  </a:tcPr>
                </a:tc>
              </a:tr>
              <a:tr h="384048">
                <a:tc>
                  <a:txBody>
                    <a:bodyPr/>
                    <a:lstStyle/>
                    <a:p>
                      <a:pPr algn="l"/>
                      <a:r>
                        <a:rPr sz="1300" b="0">
                          <a:solidFill>
                            <a:srgbClr val="1F2933"/>
                          </a:solidFill>
                          <a:latin typeface="Arial"/>
                        </a:rPr>
                        <a:t>Surface</a:t>
                      </a:r>
                    </a:p>
                  </a:txBody>
                  <a:tcPr>
                    <a:solidFill>
                      <a:srgbClr val="FFFFFF"/>
                    </a:solidFill>
                  </a:tcPr>
                </a:tc>
                <a:tc>
                  <a:txBody>
                    <a:bodyPr/>
                    <a:lstStyle/>
                    <a:p>
                      <a:pPr algn="ctr"/>
                      <a:r>
                        <a:rPr sz="1300" b="0">
                          <a:solidFill>
                            <a:srgbClr val="1F2933"/>
                          </a:solidFill>
                          <a:latin typeface="Arial"/>
                        </a:rPr>
                        <a:t>0.527</a:t>
                      </a:r>
                    </a:p>
                  </a:txBody>
                  <a:tcPr>
                    <a:solidFill>
                      <a:srgbClr val="FFFFFF"/>
                    </a:solidFill>
                  </a:tcPr>
                </a:tc>
                <a:tc>
                  <a:txBody>
                    <a:bodyPr/>
                    <a:lstStyle/>
                    <a:p>
                      <a:pPr algn="ctr"/>
                      <a:r>
                        <a:rPr sz="1300" b="0">
                          <a:solidFill>
                            <a:srgbClr val="1F2933"/>
                          </a:solidFill>
                          <a:latin typeface="Arial"/>
                        </a:rPr>
                        <a:t>0.511</a:t>
                      </a:r>
                    </a:p>
                  </a:txBody>
                  <a:tcPr>
                    <a:solidFill>
                      <a:srgbClr val="FFFFFF"/>
                    </a:solidFill>
                  </a:tcPr>
                </a:tc>
              </a:tr>
            </a:tbl>
          </a:graphicData>
        </a:graphic>
      </p:graphicFrame>
      <p:sp>
        <p:nvSpPr>
          <p:cNvPr id="8" name="TextBox 7"/>
          <p:cNvSpPr txBox="1"/>
          <p:nvPr/>
        </p:nvSpPr>
        <p:spPr>
          <a:xfrm>
            <a:off x="7315200" y="1554480"/>
            <a:ext cx="4389120" cy="4389120"/>
          </a:xfrm>
          <a:prstGeom prst="rect">
            <a:avLst/>
          </a:prstGeom>
          <a:noFill/>
        </p:spPr>
        <p:txBody>
          <a:bodyPr wrap="square" anchor="t">
            <a:spAutoFit/>
          </a:bodyPr>
          <a:lstStyle/>
          <a:p>
            <a:pPr algn="l">
              <a:spcAft>
                <a:spcPts val="800"/>
              </a:spcAft>
            </a:pPr>
            <a:r>
              <a:rPr sz="1500" b="0">
                <a:solidFill>
                  <a:srgbClr val="1F2933"/>
                </a:solidFill>
                <a:latin typeface="Arial"/>
              </a:rPr>
              <a:t>•  Test frozen before training and used once</a:t>
            </a:r>
          </a:p>
          <a:p>
            <a:pPr algn="l">
              <a:spcAft>
                <a:spcPts val="800"/>
              </a:spcAft>
            </a:pPr>
            <a:r>
              <a:rPr sz="1500" b="0">
                <a:solidFill>
                  <a:srgbClr val="1F2933"/>
                </a:solidFill>
                <a:latin typeface="Arial"/>
              </a:rPr>
              <a:t>•  Drop vs validation is expected: checkpoint was picked on validation</a:t>
            </a:r>
          </a:p>
          <a:p>
            <a:pPr algn="l">
              <a:spcAft>
                <a:spcPts val="800"/>
              </a:spcAft>
            </a:pPr>
            <a:r>
              <a:rPr sz="1500" b="0">
                <a:solidFill>
                  <a:srgbClr val="1F2933"/>
                </a:solidFill>
                <a:latin typeface="Arial"/>
              </a:rPr>
              <a:t>•  Almost all of the drop is bruise</a:t>
            </a:r>
          </a:p>
          <a:p>
            <a:pPr algn="l">
              <a:spcAft>
                <a:spcPts val="800"/>
              </a:spcAft>
            </a:pPr>
            <a:r>
              <a:rPr sz="1500" b="0">
                <a:solidFill>
                  <a:srgbClr val="1F2933"/>
                </a:solidFill>
                <a:latin typeface="Arial"/>
              </a:rPr>
              <a:t>•  Rot and surface damage hold steady</a:t>
            </a:r>
          </a:p>
          <a:p>
            <a:pPr algn="l">
              <a:spcAft>
                <a:spcPts val="800"/>
              </a:spcAft>
            </a:pPr>
            <a:r>
              <a:rPr sz="1500" b="0">
                <a:solidFill>
                  <a:srgbClr val="1F2933"/>
                </a:solidFill>
                <a:latin typeface="Arial"/>
              </a:rPr>
              <a:t>•  Small test set: one bruise miss moves recall about 4 points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Validation vs test per class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21</a:t>
            </a:r>
          </a:p>
        </p:txBody>
      </p:sp>
      <p:pic>
        <p:nvPicPr>
          <p:cNvPr id="6" name="Picture 5" descr="val_vs_test.png"/>
          <p:cNvPicPr>
            <a:picLocks noChangeAspect="1"/>
          </p:cNvPicPr>
          <p:nvPr/>
        </p:nvPicPr>
        <p:blipFill>
          <a:blip r:embed="rId3"/>
          <a:stretch>
            <a:fillRect/>
          </a:stretch>
        </p:blipFill>
        <p:spPr>
          <a:xfrm>
            <a:off x="365760" y="1394460"/>
            <a:ext cx="11430000" cy="3429000"/>
          </a:xfrm>
          <a:prstGeom prst="rect">
            <a:avLst/>
          </a:prstGeom>
        </p:spPr>
      </p:pic>
      <p:sp>
        <p:nvSpPr>
          <p:cNvPr id="7" name="TextBox 6"/>
          <p:cNvSpPr txBox="1"/>
          <p:nvPr/>
        </p:nvSpPr>
        <p:spPr>
          <a:xfrm>
            <a:off x="548640" y="5029200"/>
            <a:ext cx="10972800" cy="1188720"/>
          </a:xfrm>
          <a:prstGeom prst="rect">
            <a:avLst/>
          </a:prstGeom>
          <a:noFill/>
        </p:spPr>
        <p:txBody>
          <a:bodyPr wrap="square" anchor="t">
            <a:spAutoFit/>
          </a:bodyPr>
          <a:lstStyle/>
          <a:p>
            <a:pPr algn="l">
              <a:spcAft>
                <a:spcPts val="800"/>
              </a:spcAft>
            </a:pPr>
            <a:r>
              <a:rPr sz="1500" b="0">
                <a:solidFill>
                  <a:srgbClr val="1F2933"/>
                </a:solidFill>
                <a:latin typeface="Arial"/>
              </a:rPr>
              <a:t>•  Apple rot and surface damage hold on unseen images</a:t>
            </a:r>
          </a:p>
          <a:p>
            <a:pPr algn="l">
              <a:spcAft>
                <a:spcPts val="800"/>
              </a:spcAft>
            </a:pPr>
            <a:r>
              <a:rPr sz="1500" b="0">
                <a:solidFill>
                  <a:srgbClr val="1F2933"/>
                </a:solidFill>
                <a:latin typeface="Arial"/>
              </a:rPr>
              <a:t>•  Apple bruise depends on near-duplicates: 0.594 falls to 0.305 without them</a:t>
            </a:r>
          </a:p>
          <a:p>
            <a:pPr algn="l">
              <a:spcAft>
                <a:spcPts val="800"/>
              </a:spcAft>
            </a:pPr>
            <a:r>
              <a:rPr sz="1500" b="0">
                <a:solidFill>
                  <a:srgbClr val="1F2933"/>
                </a:solidFill>
                <a:latin typeface="Arial"/>
              </a:rPr>
              <a:t>•  Tomato drops on every class, mostly from low recall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Leakage check: near-duplicates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22</a:t>
            </a:r>
          </a:p>
        </p:txBody>
      </p:sp>
      <p:pic>
        <p:nvPicPr>
          <p:cNvPr id="6" name="Picture 5" descr="near_duplicate_example.png"/>
          <p:cNvPicPr>
            <a:picLocks noChangeAspect="1"/>
          </p:cNvPicPr>
          <p:nvPr/>
        </p:nvPicPr>
        <p:blipFill>
          <a:blip r:embed="rId3"/>
          <a:stretch>
            <a:fillRect/>
          </a:stretch>
        </p:blipFill>
        <p:spPr>
          <a:xfrm>
            <a:off x="740664" y="1280160"/>
            <a:ext cx="10680192" cy="2194560"/>
          </a:xfrm>
          <a:prstGeom prst="rect">
            <a:avLst/>
          </a:prstGeom>
        </p:spPr>
      </p:pic>
      <p:graphicFrame>
        <p:nvGraphicFramePr>
          <p:cNvPr id="7" name="Table 6"/>
          <p:cNvGraphicFramePr>
            <a:graphicFrameLocks noGrp="1"/>
          </p:cNvGraphicFramePr>
          <p:nvPr/>
        </p:nvGraphicFramePr>
        <p:xfrm>
          <a:off x="548640" y="3749039"/>
          <a:ext cx="6035040" cy="1920240"/>
        </p:xfrm>
        <a:graphic>
          <a:graphicData uri="http://schemas.openxmlformats.org/drawingml/2006/table">
            <a:tbl>
              <a:tblPr firstRow="1" bandRow="1">
                <a:tableStyleId>{5C22544A-7EE6-4342-B048-85BDC9FD1C3A}</a:tableStyleId>
              </a:tblPr>
              <a:tblGrid>
                <a:gridCol w="2011680"/>
                <a:gridCol w="1828800"/>
                <a:gridCol w="2194560"/>
              </a:tblGrid>
              <a:tr h="384048">
                <a:tc>
                  <a:txBody>
                    <a:bodyPr/>
                    <a:lstStyle/>
                    <a:p>
                      <a:pPr algn="l"/>
                      <a:r>
                        <a:rPr sz="1300" b="1">
                          <a:solidFill>
                            <a:srgbClr val="FFFFFF"/>
                          </a:solidFill>
                          <a:latin typeface="Arial"/>
                        </a:rPr>
                        <a:t>Test mask mAP50</a:t>
                      </a:r>
                    </a:p>
                  </a:txBody>
                  <a:tcPr>
                    <a:solidFill>
                      <a:srgbClr val="1F2933"/>
                    </a:solidFill>
                  </a:tcPr>
                </a:tc>
                <a:tc>
                  <a:txBody>
                    <a:bodyPr/>
                    <a:lstStyle/>
                    <a:p>
                      <a:pPr algn="ctr"/>
                      <a:r>
                        <a:rPr sz="1300" b="1">
                          <a:solidFill>
                            <a:srgbClr val="FFFFFF"/>
                          </a:solidFill>
                          <a:latin typeface="Arial"/>
                        </a:rPr>
                        <a:t>All 79</a:t>
                      </a:r>
                    </a:p>
                  </a:txBody>
                  <a:tcPr>
                    <a:solidFill>
                      <a:srgbClr val="1F2933"/>
                    </a:solidFill>
                  </a:tcPr>
                </a:tc>
                <a:tc>
                  <a:txBody>
                    <a:bodyPr/>
                    <a:lstStyle/>
                    <a:p>
                      <a:pPr algn="ctr"/>
                      <a:r>
                        <a:rPr sz="1300" b="1">
                          <a:solidFill>
                            <a:srgbClr val="FFFFFF"/>
                          </a:solidFill>
                          <a:latin typeface="Arial"/>
                        </a:rPr>
                        <a:t>59 without near-dups</a:t>
                      </a:r>
                    </a:p>
                  </a:txBody>
                  <a:tcPr>
                    <a:solidFill>
                      <a:srgbClr val="1F2933"/>
                    </a:solidFill>
                  </a:tcPr>
                </a:tc>
              </a:tr>
              <a:tr h="384048">
                <a:tc>
                  <a:txBody>
                    <a:bodyPr/>
                    <a:lstStyle/>
                    <a:p>
                      <a:pPr algn="l"/>
                      <a:r>
                        <a:rPr sz="1300" b="0">
                          <a:solidFill>
                            <a:srgbClr val="1F2933"/>
                          </a:solidFill>
                          <a:latin typeface="Arial"/>
                        </a:rPr>
                        <a:t>Bruise</a:t>
                      </a:r>
                    </a:p>
                  </a:txBody>
                  <a:tcPr>
                    <a:solidFill>
                      <a:srgbClr val="FFFFFF"/>
                    </a:solidFill>
                  </a:tcPr>
                </a:tc>
                <a:tc>
                  <a:txBody>
                    <a:bodyPr/>
                    <a:lstStyle/>
                    <a:p>
                      <a:pPr algn="ctr"/>
                      <a:r>
                        <a:rPr sz="1300" b="0">
                          <a:solidFill>
                            <a:srgbClr val="1F2933"/>
                          </a:solidFill>
                          <a:latin typeface="Arial"/>
                        </a:rPr>
                        <a:t>0.594</a:t>
                      </a:r>
                    </a:p>
                  </a:txBody>
                  <a:tcPr>
                    <a:solidFill>
                      <a:srgbClr val="FFFFFF"/>
                    </a:solidFill>
                  </a:tcPr>
                </a:tc>
                <a:tc>
                  <a:txBody>
                    <a:bodyPr/>
                    <a:lstStyle/>
                    <a:p>
                      <a:pPr algn="ctr"/>
                      <a:r>
                        <a:rPr sz="1300" b="0">
                          <a:solidFill>
                            <a:srgbClr val="1F2933"/>
                          </a:solidFill>
                          <a:latin typeface="Arial"/>
                        </a:rPr>
                        <a:t>0.305</a:t>
                      </a:r>
                    </a:p>
                  </a:txBody>
                  <a:tcPr>
                    <a:solidFill>
                      <a:srgbClr val="FFFFFF"/>
                    </a:solidFill>
                  </a:tcPr>
                </a:tc>
              </a:tr>
              <a:tr h="384048">
                <a:tc>
                  <a:txBody>
                    <a:bodyPr/>
                    <a:lstStyle/>
                    <a:p>
                      <a:pPr algn="l"/>
                      <a:r>
                        <a:rPr sz="1300" b="0">
                          <a:solidFill>
                            <a:srgbClr val="1F2933"/>
                          </a:solidFill>
                          <a:latin typeface="Arial"/>
                        </a:rPr>
                        <a:t>Rot</a:t>
                      </a:r>
                    </a:p>
                  </a:txBody>
                  <a:tcPr>
                    <a:solidFill>
                      <a:srgbClr val="F5F7FA"/>
                    </a:solidFill>
                  </a:tcPr>
                </a:tc>
                <a:tc>
                  <a:txBody>
                    <a:bodyPr/>
                    <a:lstStyle/>
                    <a:p>
                      <a:pPr algn="ctr"/>
                      <a:r>
                        <a:rPr sz="1300" b="0">
                          <a:solidFill>
                            <a:srgbClr val="1F2933"/>
                          </a:solidFill>
                          <a:latin typeface="Arial"/>
                        </a:rPr>
                        <a:t>0.732</a:t>
                      </a:r>
                    </a:p>
                  </a:txBody>
                  <a:tcPr>
                    <a:solidFill>
                      <a:srgbClr val="F5F7FA"/>
                    </a:solidFill>
                  </a:tcPr>
                </a:tc>
                <a:tc>
                  <a:txBody>
                    <a:bodyPr/>
                    <a:lstStyle/>
                    <a:p>
                      <a:pPr algn="ctr"/>
                      <a:r>
                        <a:rPr sz="1300" b="0">
                          <a:solidFill>
                            <a:srgbClr val="1F2933"/>
                          </a:solidFill>
                          <a:latin typeface="Arial"/>
                        </a:rPr>
                        <a:t>0.693</a:t>
                      </a:r>
                    </a:p>
                  </a:txBody>
                  <a:tcPr>
                    <a:solidFill>
                      <a:srgbClr val="F5F7FA"/>
                    </a:solidFill>
                  </a:tcPr>
                </a:tc>
              </a:tr>
              <a:tr h="384048">
                <a:tc>
                  <a:txBody>
                    <a:bodyPr/>
                    <a:lstStyle/>
                    <a:p>
                      <a:pPr algn="l"/>
                      <a:r>
                        <a:rPr sz="1300" b="0">
                          <a:solidFill>
                            <a:srgbClr val="1F2933"/>
                          </a:solidFill>
                          <a:latin typeface="Arial"/>
                        </a:rPr>
                        <a:t>Surface</a:t>
                      </a:r>
                    </a:p>
                  </a:txBody>
                  <a:tcPr>
                    <a:solidFill>
                      <a:srgbClr val="FFFFFF"/>
                    </a:solidFill>
                  </a:tcPr>
                </a:tc>
                <a:tc>
                  <a:txBody>
                    <a:bodyPr/>
                    <a:lstStyle/>
                    <a:p>
                      <a:pPr algn="ctr"/>
                      <a:r>
                        <a:rPr sz="1300" b="0">
                          <a:solidFill>
                            <a:srgbClr val="1F2933"/>
                          </a:solidFill>
                          <a:latin typeface="Arial"/>
                        </a:rPr>
                        <a:t>0.511</a:t>
                      </a:r>
                    </a:p>
                  </a:txBody>
                  <a:tcPr>
                    <a:solidFill>
                      <a:srgbClr val="FFFFFF"/>
                    </a:solidFill>
                  </a:tcPr>
                </a:tc>
                <a:tc>
                  <a:txBody>
                    <a:bodyPr/>
                    <a:lstStyle/>
                    <a:p>
                      <a:pPr algn="ctr"/>
                      <a:r>
                        <a:rPr sz="1300" b="0">
                          <a:solidFill>
                            <a:srgbClr val="1F2933"/>
                          </a:solidFill>
                          <a:latin typeface="Arial"/>
                        </a:rPr>
                        <a:t>0.515</a:t>
                      </a:r>
                    </a:p>
                  </a:txBody>
                  <a:tcPr>
                    <a:solidFill>
                      <a:srgbClr val="FFFFFF"/>
                    </a:solidFill>
                  </a:tcPr>
                </a:tc>
              </a:tr>
              <a:tr h="384048">
                <a:tc>
                  <a:txBody>
                    <a:bodyPr/>
                    <a:lstStyle/>
                    <a:p>
                      <a:pPr algn="l"/>
                      <a:r>
                        <a:rPr sz="1300" b="0">
                          <a:solidFill>
                            <a:srgbClr val="1F2933"/>
                          </a:solidFill>
                          <a:latin typeface="Arial"/>
                        </a:rPr>
                        <a:t>All</a:t>
                      </a:r>
                    </a:p>
                  </a:txBody>
                  <a:tcPr>
                    <a:solidFill>
                      <a:srgbClr val="F5F7FA"/>
                    </a:solidFill>
                  </a:tcPr>
                </a:tc>
                <a:tc>
                  <a:txBody>
                    <a:bodyPr/>
                    <a:lstStyle/>
                    <a:p>
                      <a:pPr algn="ctr"/>
                      <a:r>
                        <a:rPr sz="1300" b="0">
                          <a:solidFill>
                            <a:srgbClr val="1F2933"/>
                          </a:solidFill>
                          <a:latin typeface="Arial"/>
                        </a:rPr>
                        <a:t>0.613</a:t>
                      </a:r>
                    </a:p>
                  </a:txBody>
                  <a:tcPr>
                    <a:solidFill>
                      <a:srgbClr val="F5F7FA"/>
                    </a:solidFill>
                  </a:tcPr>
                </a:tc>
                <a:tc>
                  <a:txBody>
                    <a:bodyPr/>
                    <a:lstStyle/>
                    <a:p>
                      <a:pPr algn="ctr"/>
                      <a:r>
                        <a:rPr sz="1300" b="0">
                          <a:solidFill>
                            <a:srgbClr val="1F2933"/>
                          </a:solidFill>
                          <a:latin typeface="Arial"/>
                        </a:rPr>
                        <a:t>0.504</a:t>
                      </a:r>
                    </a:p>
                  </a:txBody>
                  <a:tcPr>
                    <a:solidFill>
                      <a:srgbClr val="F5F7FA"/>
                    </a:solidFill>
                  </a:tcPr>
                </a:tc>
              </a:tr>
            </a:tbl>
          </a:graphicData>
        </a:graphic>
      </p:graphicFrame>
      <p:sp>
        <p:nvSpPr>
          <p:cNvPr id="8" name="TextBox 7"/>
          <p:cNvSpPr txBox="1"/>
          <p:nvPr/>
        </p:nvSpPr>
        <p:spPr>
          <a:xfrm>
            <a:off x="6949440" y="3749039"/>
            <a:ext cx="4754880" cy="2560320"/>
          </a:xfrm>
          <a:prstGeom prst="rect">
            <a:avLst/>
          </a:prstGeom>
          <a:noFill/>
        </p:spPr>
        <p:txBody>
          <a:bodyPr wrap="square" anchor="t">
            <a:spAutoFit/>
          </a:bodyPr>
          <a:lstStyle/>
          <a:p>
            <a:pPr algn="l">
              <a:spcAft>
                <a:spcPts val="800"/>
              </a:spcAft>
            </a:pPr>
            <a:r>
              <a:rPr sz="1500" b="0">
                <a:solidFill>
                  <a:srgbClr val="1F2933"/>
                </a:solidFill>
                <a:latin typeface="Arial"/>
              </a:rPr>
              <a:t>•  Same apple in train and test, only rotated</a:t>
            </a:r>
          </a:p>
          <a:p>
            <a:pPr algn="l">
              <a:spcAft>
                <a:spcPts val="800"/>
              </a:spcAft>
            </a:pPr>
            <a:r>
              <a:rPr sz="1500" b="0">
                <a:solidFill>
                  <a:srgbClr val="1F2933"/>
                </a:solidFill>
                <a:latin typeface="Arial"/>
              </a:rPr>
              <a:t>•  20 of 79 test and 64 of 215 validation images matched</a:t>
            </a:r>
          </a:p>
          <a:p>
            <a:pPr algn="l">
              <a:spcAft>
                <a:spcPts val="800"/>
              </a:spcAft>
            </a:pPr>
            <a:r>
              <a:rPr sz="1500" b="0">
                <a:solidFill>
                  <a:srgbClr val="1F2933"/>
                </a:solidFill>
                <a:latin typeface="Arial"/>
              </a:rPr>
              <a:t>•  Bruise score mostly came from seen apples</a:t>
            </a:r>
          </a:p>
          <a:p>
            <a:pPr algn="l">
              <a:spcAft>
                <a:spcPts val="800"/>
              </a:spcAft>
            </a:pPr>
            <a:r>
              <a:rPr sz="1500" b="0">
                <a:solidFill>
                  <a:srgbClr val="1F2933"/>
                </a:solidFill>
                <a:latin typeface="Arial"/>
              </a:rPr>
              <a:t>•  0.504 is the fairer estimate for new photos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Does the damaged share match?</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23</a:t>
            </a:r>
          </a:p>
        </p:txBody>
      </p:sp>
      <p:pic>
        <p:nvPicPr>
          <p:cNvPr id="6" name="Picture 5" descr="coverage_agreement.png"/>
          <p:cNvPicPr>
            <a:picLocks noChangeAspect="1"/>
          </p:cNvPicPr>
          <p:nvPr/>
        </p:nvPicPr>
        <p:blipFill>
          <a:blip r:embed="rId3"/>
          <a:stretch>
            <a:fillRect/>
          </a:stretch>
        </p:blipFill>
        <p:spPr>
          <a:xfrm>
            <a:off x="365760" y="1283610"/>
            <a:ext cx="7863840" cy="3284940"/>
          </a:xfrm>
          <a:prstGeom prst="rect">
            <a:avLst/>
          </a:prstGeom>
        </p:spPr>
      </p:pic>
      <p:sp>
        <p:nvSpPr>
          <p:cNvPr id="7" name="TextBox 6"/>
          <p:cNvSpPr txBox="1"/>
          <p:nvPr/>
        </p:nvSpPr>
        <p:spPr>
          <a:xfrm>
            <a:off x="8412480" y="1463040"/>
            <a:ext cx="3474720" cy="4572000"/>
          </a:xfrm>
          <a:prstGeom prst="rect">
            <a:avLst/>
          </a:prstGeom>
          <a:noFill/>
        </p:spPr>
        <p:txBody>
          <a:bodyPr wrap="square" anchor="t">
            <a:spAutoFit/>
          </a:bodyPr>
          <a:lstStyle/>
          <a:p>
            <a:pPr algn="l">
              <a:spcAft>
                <a:spcPts val="800"/>
              </a:spcAft>
            </a:pPr>
            <a:r>
              <a:rPr sz="1500" b="0">
                <a:solidFill>
                  <a:srgbClr val="1F2933"/>
                </a:solidFill>
                <a:latin typeface="Arial"/>
              </a:rPr>
              <a:t>•  Apple: r = 0.91, error 5.2 points</a:t>
            </a:r>
          </a:p>
          <a:p>
            <a:pPr algn="l">
              <a:spcAft>
                <a:spcPts val="800"/>
              </a:spcAft>
            </a:pPr>
            <a:r>
              <a:rPr sz="1500" b="0">
                <a:solidFill>
                  <a:srgbClr val="1F2933"/>
                </a:solidFill>
                <a:latin typeface="Arial"/>
              </a:rPr>
              <a:t>•  Tomato: r = 0.82, error 3.7 points</a:t>
            </a:r>
          </a:p>
          <a:p>
            <a:pPr algn="l">
              <a:spcAft>
                <a:spcPts val="800"/>
              </a:spcAft>
            </a:pPr>
            <a:r>
              <a:rPr sz="1500" b="0">
                <a:solidFill>
                  <a:srgbClr val="1F2933"/>
                </a:solidFill>
                <a:latin typeface="Arial"/>
              </a:rPr>
              <a:t>•  Most big errors are defects missed entirely</a:t>
            </a:r>
          </a:p>
          <a:p>
            <a:pPr algn="l">
              <a:spcAft>
                <a:spcPts val="800"/>
              </a:spcAft>
            </a:pPr>
            <a:r>
              <a:rPr sz="1500" b="0">
                <a:solidFill>
                  <a:srgbClr val="1F2933"/>
                </a:solidFill>
                <a:latin typeface="Arial"/>
              </a:rPr>
              <a:t>•  Mean pixel IoU: apple 0.58, tomato 0.41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Tomato: two-stage result</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24</a:t>
            </a:r>
          </a:p>
        </p:txBody>
      </p:sp>
      <p:graphicFrame>
        <p:nvGraphicFramePr>
          <p:cNvPr id="6" name="Table 5"/>
          <p:cNvGraphicFramePr>
            <a:graphicFrameLocks noGrp="1"/>
          </p:cNvGraphicFramePr>
          <p:nvPr/>
        </p:nvGraphicFramePr>
        <p:xfrm>
          <a:off x="548640" y="1463040"/>
          <a:ext cx="6400800" cy="2304288"/>
        </p:xfrm>
        <a:graphic>
          <a:graphicData uri="http://schemas.openxmlformats.org/drawingml/2006/table">
            <a:tbl>
              <a:tblPr firstRow="1" bandRow="1">
                <a:tableStyleId>{5C22544A-7EE6-4342-B048-85BDC9FD1C3A}</a:tableStyleId>
              </a:tblPr>
              <a:tblGrid>
                <a:gridCol w="2743200"/>
                <a:gridCol w="1828800"/>
                <a:gridCol w="1828800"/>
              </a:tblGrid>
              <a:tr h="384048">
                <a:tc>
                  <a:txBody>
                    <a:bodyPr/>
                    <a:lstStyle/>
                    <a:p>
                      <a:pPr algn="l"/>
                      <a:r>
                        <a:rPr sz="1300" b="1">
                          <a:solidFill>
                            <a:srgbClr val="FFFFFF"/>
                          </a:solidFill>
                          <a:latin typeface="Arial"/>
                        </a:rPr>
                        <a:t>Tomato</a:t>
                      </a:r>
                    </a:p>
                  </a:txBody>
                  <a:tcPr>
                    <a:solidFill>
                      <a:srgbClr val="1F2933"/>
                    </a:solidFill>
                  </a:tcPr>
                </a:tc>
                <a:tc>
                  <a:txBody>
                    <a:bodyPr/>
                    <a:lstStyle/>
                    <a:p>
                      <a:pPr algn="ctr"/>
                      <a:r>
                        <a:rPr sz="1300" b="1">
                          <a:solidFill>
                            <a:srgbClr val="FFFFFF"/>
                          </a:solidFill>
                          <a:latin typeface="Arial"/>
                        </a:rPr>
                        <a:t>Validation</a:t>
                      </a:r>
                    </a:p>
                  </a:txBody>
                  <a:tcPr>
                    <a:solidFill>
                      <a:srgbClr val="1F2933"/>
                    </a:solidFill>
                  </a:tcPr>
                </a:tc>
                <a:tc>
                  <a:txBody>
                    <a:bodyPr/>
                    <a:lstStyle/>
                    <a:p>
                      <a:pPr algn="ctr"/>
                      <a:r>
                        <a:rPr sz="1300" b="1">
                          <a:solidFill>
                            <a:srgbClr val="FFFFFF"/>
                          </a:solidFill>
                          <a:latin typeface="Arial"/>
                        </a:rPr>
                        <a:t>Test (95 images)</a:t>
                      </a:r>
                    </a:p>
                  </a:txBody>
                  <a:tcPr>
                    <a:solidFill>
                      <a:srgbClr val="1F2933"/>
                    </a:solidFill>
                  </a:tcPr>
                </a:tc>
              </a:tr>
              <a:tr h="384048">
                <a:tc>
                  <a:txBody>
                    <a:bodyPr/>
                    <a:lstStyle/>
                    <a:p>
                      <a:pPr algn="l"/>
                      <a:r>
                        <a:rPr sz="1300" b="0">
                          <a:solidFill>
                            <a:srgbClr val="1F2933"/>
                          </a:solidFill>
                          <a:latin typeface="Arial"/>
                        </a:rPr>
                        <a:t>Stage 1 whole tomato mAP50</a:t>
                      </a:r>
                    </a:p>
                  </a:txBody>
                  <a:tcPr>
                    <a:solidFill>
                      <a:srgbClr val="FFFFFF"/>
                    </a:solidFill>
                  </a:tcPr>
                </a:tc>
                <a:tc>
                  <a:txBody>
                    <a:bodyPr/>
                    <a:lstStyle/>
                    <a:p>
                      <a:pPr algn="ctr"/>
                      <a:r>
                        <a:rPr sz="1300" b="0">
                          <a:solidFill>
                            <a:srgbClr val="1F2933"/>
                          </a:solidFill>
                          <a:latin typeface="Arial"/>
                        </a:rPr>
                        <a:t>0.966</a:t>
                      </a:r>
                    </a:p>
                  </a:txBody>
                  <a:tcPr>
                    <a:solidFill>
                      <a:srgbClr val="FFFFFF"/>
                    </a:solidFill>
                  </a:tcPr>
                </a:tc>
                <a:tc>
                  <a:txBody>
                    <a:bodyPr/>
                    <a:lstStyle/>
                    <a:p>
                      <a:pPr algn="ctr"/>
                      <a:r>
                        <a:rPr sz="1300" b="0">
                          <a:solidFill>
                            <a:srgbClr val="1F2933"/>
                          </a:solidFill>
                          <a:latin typeface="Arial"/>
                        </a:rPr>
                        <a:t>-</a:t>
                      </a:r>
                    </a:p>
                  </a:txBody>
                  <a:tcPr>
                    <a:solidFill>
                      <a:srgbClr val="FFFFFF"/>
                    </a:solidFill>
                  </a:tcPr>
                </a:tc>
              </a:tr>
              <a:tr h="384048">
                <a:tc>
                  <a:txBody>
                    <a:bodyPr/>
                    <a:lstStyle/>
                    <a:p>
                      <a:pPr algn="l"/>
                      <a:r>
                        <a:rPr sz="1300" b="0">
                          <a:solidFill>
                            <a:srgbClr val="1F2933"/>
                          </a:solidFill>
                          <a:latin typeface="Arial"/>
                        </a:rPr>
                        <a:t>Stage 2 precision</a:t>
                      </a:r>
                    </a:p>
                  </a:txBody>
                  <a:tcPr>
                    <a:solidFill>
                      <a:srgbClr val="F5F7FA"/>
                    </a:solidFill>
                  </a:tcPr>
                </a:tc>
                <a:tc>
                  <a:txBody>
                    <a:bodyPr/>
                    <a:lstStyle/>
                    <a:p>
                      <a:pPr algn="ctr"/>
                      <a:r>
                        <a:rPr sz="1300" b="0">
                          <a:solidFill>
                            <a:srgbClr val="1F2933"/>
                          </a:solidFill>
                          <a:latin typeface="Arial"/>
                        </a:rPr>
                        <a:t>0.709</a:t>
                      </a:r>
                    </a:p>
                  </a:txBody>
                  <a:tcPr>
                    <a:solidFill>
                      <a:srgbClr val="F5F7FA"/>
                    </a:solidFill>
                  </a:tcPr>
                </a:tc>
                <a:tc>
                  <a:txBody>
                    <a:bodyPr/>
                    <a:lstStyle/>
                    <a:p>
                      <a:pPr algn="ctr"/>
                      <a:r>
                        <a:rPr sz="1300" b="0">
                          <a:solidFill>
                            <a:srgbClr val="1F2933"/>
                          </a:solidFill>
                          <a:latin typeface="Arial"/>
                        </a:rPr>
                        <a:t>0.732</a:t>
                      </a:r>
                    </a:p>
                  </a:txBody>
                  <a:tcPr>
                    <a:solidFill>
                      <a:srgbClr val="F5F7FA"/>
                    </a:solidFill>
                  </a:tcPr>
                </a:tc>
              </a:tr>
              <a:tr h="384048">
                <a:tc>
                  <a:txBody>
                    <a:bodyPr/>
                    <a:lstStyle/>
                    <a:p>
                      <a:pPr algn="l"/>
                      <a:r>
                        <a:rPr sz="1300" b="0">
                          <a:solidFill>
                            <a:srgbClr val="1F2933"/>
                          </a:solidFill>
                          <a:latin typeface="Arial"/>
                        </a:rPr>
                        <a:t>Stage 2 recall</a:t>
                      </a:r>
                    </a:p>
                  </a:txBody>
                  <a:tcPr>
                    <a:solidFill>
                      <a:srgbClr val="FFFFFF"/>
                    </a:solidFill>
                  </a:tcPr>
                </a:tc>
                <a:tc>
                  <a:txBody>
                    <a:bodyPr/>
                    <a:lstStyle/>
                    <a:p>
                      <a:pPr algn="ctr"/>
                      <a:r>
                        <a:rPr sz="1300" b="0">
                          <a:solidFill>
                            <a:srgbClr val="1F2933"/>
                          </a:solidFill>
                          <a:latin typeface="Arial"/>
                        </a:rPr>
                        <a:t>0.473</a:t>
                      </a:r>
                    </a:p>
                  </a:txBody>
                  <a:tcPr>
                    <a:solidFill>
                      <a:srgbClr val="FFFFFF"/>
                    </a:solidFill>
                  </a:tcPr>
                </a:tc>
                <a:tc>
                  <a:txBody>
                    <a:bodyPr/>
                    <a:lstStyle/>
                    <a:p>
                      <a:pPr algn="ctr"/>
                      <a:r>
                        <a:rPr sz="1300" b="0">
                          <a:solidFill>
                            <a:srgbClr val="1F2933"/>
                          </a:solidFill>
                          <a:latin typeface="Arial"/>
                        </a:rPr>
                        <a:t>0.375</a:t>
                      </a:r>
                    </a:p>
                  </a:txBody>
                  <a:tcPr>
                    <a:solidFill>
                      <a:srgbClr val="FFFFFF"/>
                    </a:solidFill>
                  </a:tcPr>
                </a:tc>
              </a:tr>
              <a:tr h="384048">
                <a:tc>
                  <a:txBody>
                    <a:bodyPr/>
                    <a:lstStyle/>
                    <a:p>
                      <a:pPr algn="l"/>
                      <a:r>
                        <a:rPr sz="1300" b="0">
                          <a:solidFill>
                            <a:srgbClr val="1F2933"/>
                          </a:solidFill>
                          <a:latin typeface="Arial"/>
                        </a:rPr>
                        <a:t>Stage 2 mAP50</a:t>
                      </a:r>
                    </a:p>
                  </a:txBody>
                  <a:tcPr>
                    <a:solidFill>
                      <a:srgbClr val="F5F7FA"/>
                    </a:solidFill>
                  </a:tcPr>
                </a:tc>
                <a:tc>
                  <a:txBody>
                    <a:bodyPr/>
                    <a:lstStyle/>
                    <a:p>
                      <a:pPr algn="ctr"/>
                      <a:r>
                        <a:rPr sz="1300" b="0">
                          <a:solidFill>
                            <a:srgbClr val="1F2933"/>
                          </a:solidFill>
                          <a:latin typeface="Arial"/>
                        </a:rPr>
                        <a:t>0.494</a:t>
                      </a:r>
                    </a:p>
                  </a:txBody>
                  <a:tcPr>
                    <a:solidFill>
                      <a:srgbClr val="F5F7FA"/>
                    </a:solidFill>
                  </a:tcPr>
                </a:tc>
                <a:tc>
                  <a:txBody>
                    <a:bodyPr/>
                    <a:lstStyle/>
                    <a:p>
                      <a:pPr algn="ctr"/>
                      <a:r>
                        <a:rPr sz="1300" b="0">
                          <a:solidFill>
                            <a:srgbClr val="1F2933"/>
                          </a:solidFill>
                          <a:latin typeface="Arial"/>
                        </a:rPr>
                        <a:t>0.393</a:t>
                      </a:r>
                    </a:p>
                  </a:txBody>
                  <a:tcPr>
                    <a:solidFill>
                      <a:srgbClr val="F5F7FA"/>
                    </a:solidFill>
                  </a:tcPr>
                </a:tc>
              </a:tr>
              <a:tr h="384048">
                <a:tc>
                  <a:txBody>
                    <a:bodyPr/>
                    <a:lstStyle/>
                    <a:p>
                      <a:pPr algn="l"/>
                      <a:r>
                        <a:rPr sz="1300" b="0">
                          <a:solidFill>
                            <a:srgbClr val="1F2933"/>
                          </a:solidFill>
                          <a:latin typeface="Arial"/>
                        </a:rPr>
                        <a:t>Stage 2 mAP50-95</a:t>
                      </a:r>
                    </a:p>
                  </a:txBody>
                  <a:tcPr>
                    <a:solidFill>
                      <a:srgbClr val="FFFFFF"/>
                    </a:solidFill>
                  </a:tcPr>
                </a:tc>
                <a:tc>
                  <a:txBody>
                    <a:bodyPr/>
                    <a:lstStyle/>
                    <a:p>
                      <a:pPr algn="ctr"/>
                      <a:r>
                        <a:rPr sz="1300" b="0">
                          <a:solidFill>
                            <a:srgbClr val="1F2933"/>
                          </a:solidFill>
                          <a:latin typeface="Arial"/>
                        </a:rPr>
                        <a:t>0.295</a:t>
                      </a:r>
                    </a:p>
                  </a:txBody>
                  <a:tcPr>
                    <a:solidFill>
                      <a:srgbClr val="FFFFFF"/>
                    </a:solidFill>
                  </a:tcPr>
                </a:tc>
                <a:tc>
                  <a:txBody>
                    <a:bodyPr/>
                    <a:lstStyle/>
                    <a:p>
                      <a:pPr algn="ctr"/>
                      <a:r>
                        <a:rPr sz="1300" b="0">
                          <a:solidFill>
                            <a:srgbClr val="1F2933"/>
                          </a:solidFill>
                          <a:latin typeface="Arial"/>
                        </a:rPr>
                        <a:t>0.194</a:t>
                      </a:r>
                    </a:p>
                  </a:txBody>
                  <a:tcPr>
                    <a:solidFill>
                      <a:srgbClr val="FFFFFF"/>
                    </a:solidFill>
                  </a:tcPr>
                </a:tc>
              </a:tr>
            </a:tbl>
          </a:graphicData>
        </a:graphic>
      </p:graphicFrame>
      <p:graphicFrame>
        <p:nvGraphicFramePr>
          <p:cNvPr id="7" name="Table 6"/>
          <p:cNvGraphicFramePr>
            <a:graphicFrameLocks noGrp="1"/>
          </p:cNvGraphicFramePr>
          <p:nvPr/>
        </p:nvGraphicFramePr>
        <p:xfrm>
          <a:off x="548640" y="4023360"/>
          <a:ext cx="6400800" cy="1536192"/>
        </p:xfrm>
        <a:graphic>
          <a:graphicData uri="http://schemas.openxmlformats.org/drawingml/2006/table">
            <a:tbl>
              <a:tblPr firstRow="1" bandRow="1">
                <a:tableStyleId>{5C22544A-7EE6-4342-B048-85BDC9FD1C3A}</a:tableStyleId>
              </a:tblPr>
              <a:tblGrid>
                <a:gridCol w="2011680"/>
                <a:gridCol w="1463040"/>
                <a:gridCol w="1463040"/>
                <a:gridCol w="1463040"/>
              </a:tblGrid>
              <a:tr h="384048">
                <a:tc>
                  <a:txBody>
                    <a:bodyPr/>
                    <a:lstStyle/>
                    <a:p>
                      <a:pPr algn="l"/>
                      <a:r>
                        <a:rPr sz="1300" b="1">
                          <a:solidFill>
                            <a:srgbClr val="FFFFFF"/>
                          </a:solidFill>
                          <a:latin typeface="Arial"/>
                        </a:rPr>
                        <a:t>Class</a:t>
                      </a:r>
                    </a:p>
                  </a:txBody>
                  <a:tcPr>
                    <a:solidFill>
                      <a:srgbClr val="1F2933"/>
                    </a:solidFill>
                  </a:tcPr>
                </a:tc>
                <a:tc>
                  <a:txBody>
                    <a:bodyPr/>
                    <a:lstStyle/>
                    <a:p>
                      <a:pPr algn="ctr"/>
                      <a:r>
                        <a:rPr sz="1300" b="1">
                          <a:solidFill>
                            <a:srgbClr val="FFFFFF"/>
                          </a:solidFill>
                          <a:latin typeface="Arial"/>
                        </a:rPr>
                        <a:t>Test P</a:t>
                      </a:r>
                    </a:p>
                  </a:txBody>
                  <a:tcPr>
                    <a:solidFill>
                      <a:srgbClr val="1F2933"/>
                    </a:solidFill>
                  </a:tcPr>
                </a:tc>
                <a:tc>
                  <a:txBody>
                    <a:bodyPr/>
                    <a:lstStyle/>
                    <a:p>
                      <a:pPr algn="ctr"/>
                      <a:r>
                        <a:rPr sz="1300" b="1">
                          <a:solidFill>
                            <a:srgbClr val="FFFFFF"/>
                          </a:solidFill>
                          <a:latin typeface="Arial"/>
                        </a:rPr>
                        <a:t>Test R</a:t>
                      </a:r>
                    </a:p>
                  </a:txBody>
                  <a:tcPr>
                    <a:solidFill>
                      <a:srgbClr val="1F2933"/>
                    </a:solidFill>
                  </a:tcPr>
                </a:tc>
                <a:tc>
                  <a:txBody>
                    <a:bodyPr/>
                    <a:lstStyle/>
                    <a:p>
                      <a:pPr algn="ctr"/>
                      <a:r>
                        <a:rPr sz="1300" b="1">
                          <a:solidFill>
                            <a:srgbClr val="FFFFFF"/>
                          </a:solidFill>
                          <a:latin typeface="Arial"/>
                        </a:rPr>
                        <a:t>Test mAP50</a:t>
                      </a:r>
                    </a:p>
                  </a:txBody>
                  <a:tcPr>
                    <a:solidFill>
                      <a:srgbClr val="1F2933"/>
                    </a:solidFill>
                  </a:tcPr>
                </a:tc>
              </a:tr>
              <a:tr h="384048">
                <a:tc>
                  <a:txBody>
                    <a:bodyPr/>
                    <a:lstStyle/>
                    <a:p>
                      <a:pPr algn="l"/>
                      <a:r>
                        <a:rPr sz="1300" b="0">
                          <a:solidFill>
                            <a:srgbClr val="1F2933"/>
                          </a:solidFill>
                          <a:latin typeface="Arial"/>
                        </a:rPr>
                        <a:t>Bruise</a:t>
                      </a:r>
                    </a:p>
                  </a:txBody>
                  <a:tcPr>
                    <a:solidFill>
                      <a:srgbClr val="FFFFFF"/>
                    </a:solidFill>
                  </a:tcPr>
                </a:tc>
                <a:tc>
                  <a:txBody>
                    <a:bodyPr/>
                    <a:lstStyle/>
                    <a:p>
                      <a:pPr algn="ctr"/>
                      <a:r>
                        <a:rPr sz="1300" b="0">
                          <a:solidFill>
                            <a:srgbClr val="1F2933"/>
                          </a:solidFill>
                          <a:latin typeface="Arial"/>
                        </a:rPr>
                        <a:t>0.794</a:t>
                      </a:r>
                    </a:p>
                  </a:txBody>
                  <a:tcPr>
                    <a:solidFill>
                      <a:srgbClr val="FFFFFF"/>
                    </a:solidFill>
                  </a:tcPr>
                </a:tc>
                <a:tc>
                  <a:txBody>
                    <a:bodyPr/>
                    <a:lstStyle/>
                    <a:p>
                      <a:pPr algn="ctr"/>
                      <a:r>
                        <a:rPr sz="1300" b="0">
                          <a:solidFill>
                            <a:srgbClr val="1F2933"/>
                          </a:solidFill>
                          <a:latin typeface="Arial"/>
                        </a:rPr>
                        <a:t>0.387</a:t>
                      </a:r>
                    </a:p>
                  </a:txBody>
                  <a:tcPr>
                    <a:solidFill>
                      <a:srgbClr val="FFFFFF"/>
                    </a:solidFill>
                  </a:tcPr>
                </a:tc>
                <a:tc>
                  <a:txBody>
                    <a:bodyPr/>
                    <a:lstStyle/>
                    <a:p>
                      <a:pPr algn="ctr"/>
                      <a:r>
                        <a:rPr sz="1300" b="0">
                          <a:solidFill>
                            <a:srgbClr val="1F2933"/>
                          </a:solidFill>
                          <a:latin typeface="Arial"/>
                        </a:rPr>
                        <a:t>0.388</a:t>
                      </a:r>
                    </a:p>
                  </a:txBody>
                  <a:tcPr>
                    <a:solidFill>
                      <a:srgbClr val="FFFFFF"/>
                    </a:solidFill>
                  </a:tcPr>
                </a:tc>
              </a:tr>
              <a:tr h="384048">
                <a:tc>
                  <a:txBody>
                    <a:bodyPr/>
                    <a:lstStyle/>
                    <a:p>
                      <a:pPr algn="l"/>
                      <a:r>
                        <a:rPr sz="1300" b="0">
                          <a:solidFill>
                            <a:srgbClr val="1F2933"/>
                          </a:solidFill>
                          <a:latin typeface="Arial"/>
                        </a:rPr>
                        <a:t>Rot</a:t>
                      </a:r>
                    </a:p>
                  </a:txBody>
                  <a:tcPr>
                    <a:solidFill>
                      <a:srgbClr val="F5F7FA"/>
                    </a:solidFill>
                  </a:tcPr>
                </a:tc>
                <a:tc>
                  <a:txBody>
                    <a:bodyPr/>
                    <a:lstStyle/>
                    <a:p>
                      <a:pPr algn="ctr"/>
                      <a:r>
                        <a:rPr sz="1300" b="0">
                          <a:solidFill>
                            <a:srgbClr val="1F2933"/>
                          </a:solidFill>
                          <a:latin typeface="Arial"/>
                        </a:rPr>
                        <a:t>0.848</a:t>
                      </a:r>
                    </a:p>
                  </a:txBody>
                  <a:tcPr>
                    <a:solidFill>
                      <a:srgbClr val="F5F7FA"/>
                    </a:solidFill>
                  </a:tcPr>
                </a:tc>
                <a:tc>
                  <a:txBody>
                    <a:bodyPr/>
                    <a:lstStyle/>
                    <a:p>
                      <a:pPr algn="ctr"/>
                      <a:r>
                        <a:rPr sz="1300" b="0">
                          <a:solidFill>
                            <a:srgbClr val="1F2933"/>
                          </a:solidFill>
                          <a:latin typeface="Arial"/>
                        </a:rPr>
                        <a:t>0.382</a:t>
                      </a:r>
                    </a:p>
                  </a:txBody>
                  <a:tcPr>
                    <a:solidFill>
                      <a:srgbClr val="F5F7FA"/>
                    </a:solidFill>
                  </a:tcPr>
                </a:tc>
                <a:tc>
                  <a:txBody>
                    <a:bodyPr/>
                    <a:lstStyle/>
                    <a:p>
                      <a:pPr algn="ctr"/>
                      <a:r>
                        <a:rPr sz="1300" b="0">
                          <a:solidFill>
                            <a:srgbClr val="1F2933"/>
                          </a:solidFill>
                          <a:latin typeface="Arial"/>
                        </a:rPr>
                        <a:t>0.477</a:t>
                      </a:r>
                    </a:p>
                  </a:txBody>
                  <a:tcPr>
                    <a:solidFill>
                      <a:srgbClr val="F5F7FA"/>
                    </a:solidFill>
                  </a:tcPr>
                </a:tc>
              </a:tr>
              <a:tr h="384048">
                <a:tc>
                  <a:txBody>
                    <a:bodyPr/>
                    <a:lstStyle/>
                    <a:p>
                      <a:pPr algn="l"/>
                      <a:r>
                        <a:rPr sz="1300" b="0">
                          <a:solidFill>
                            <a:srgbClr val="1F2933"/>
                          </a:solidFill>
                          <a:latin typeface="Arial"/>
                        </a:rPr>
                        <a:t>Surface</a:t>
                      </a:r>
                    </a:p>
                  </a:txBody>
                  <a:tcPr>
                    <a:solidFill>
                      <a:srgbClr val="FFFFFF"/>
                    </a:solidFill>
                  </a:tcPr>
                </a:tc>
                <a:tc>
                  <a:txBody>
                    <a:bodyPr/>
                    <a:lstStyle/>
                    <a:p>
                      <a:pPr algn="ctr"/>
                      <a:r>
                        <a:rPr sz="1300" b="0">
                          <a:solidFill>
                            <a:srgbClr val="1F2933"/>
                          </a:solidFill>
                          <a:latin typeface="Arial"/>
                        </a:rPr>
                        <a:t>0.555</a:t>
                      </a:r>
                    </a:p>
                  </a:txBody>
                  <a:tcPr>
                    <a:solidFill>
                      <a:srgbClr val="FFFFFF"/>
                    </a:solidFill>
                  </a:tcPr>
                </a:tc>
                <a:tc>
                  <a:txBody>
                    <a:bodyPr/>
                    <a:lstStyle/>
                    <a:p>
                      <a:pPr algn="ctr"/>
                      <a:r>
                        <a:rPr sz="1300" b="0">
                          <a:solidFill>
                            <a:srgbClr val="1F2933"/>
                          </a:solidFill>
                          <a:latin typeface="Arial"/>
                        </a:rPr>
                        <a:t>0.357</a:t>
                      </a:r>
                    </a:p>
                  </a:txBody>
                  <a:tcPr>
                    <a:solidFill>
                      <a:srgbClr val="FFFFFF"/>
                    </a:solidFill>
                  </a:tcPr>
                </a:tc>
                <a:tc>
                  <a:txBody>
                    <a:bodyPr/>
                    <a:lstStyle/>
                    <a:p>
                      <a:pPr algn="ctr"/>
                      <a:r>
                        <a:rPr sz="1300" b="0">
                          <a:solidFill>
                            <a:srgbClr val="1F2933"/>
                          </a:solidFill>
                          <a:latin typeface="Arial"/>
                        </a:rPr>
                        <a:t>0.314</a:t>
                      </a:r>
                    </a:p>
                  </a:txBody>
                  <a:tcPr>
                    <a:solidFill>
                      <a:srgbClr val="FFFFFF"/>
                    </a:solidFill>
                  </a:tcPr>
                </a:tc>
              </a:tr>
            </a:tbl>
          </a:graphicData>
        </a:graphic>
      </p:graphicFrame>
      <p:sp>
        <p:nvSpPr>
          <p:cNvPr id="8" name="TextBox 7"/>
          <p:cNvSpPr txBox="1"/>
          <p:nvPr/>
        </p:nvSpPr>
        <p:spPr>
          <a:xfrm>
            <a:off x="7315200" y="1554480"/>
            <a:ext cx="4389120" cy="4389120"/>
          </a:xfrm>
          <a:prstGeom prst="rect">
            <a:avLst/>
          </a:prstGeom>
          <a:noFill/>
        </p:spPr>
        <p:txBody>
          <a:bodyPr wrap="square" anchor="t">
            <a:spAutoFit/>
          </a:bodyPr>
          <a:lstStyle/>
          <a:p>
            <a:pPr algn="l">
              <a:spcAft>
                <a:spcPts val="800"/>
              </a:spcAft>
            </a:pPr>
            <a:r>
              <a:rPr sz="1500" b="0">
                <a:solidFill>
                  <a:srgbClr val="1F2933"/>
                </a:solidFill>
                <a:latin typeface="Arial"/>
              </a:rPr>
              <a:t>•  Whole tomato is easy for Stage 1</a:t>
            </a:r>
          </a:p>
          <a:p>
            <a:pPr algn="l">
              <a:spcAft>
                <a:spcPts val="800"/>
              </a:spcAft>
            </a:pPr>
            <a:r>
              <a:rPr sz="1500" b="0">
                <a:solidFill>
                  <a:srgbClr val="1F2933"/>
                </a:solidFill>
                <a:latin typeface="Arial"/>
              </a:rPr>
              <a:t>•  When it marks a defect it is usually right</a:t>
            </a:r>
          </a:p>
          <a:p>
            <a:pPr algn="l">
              <a:spcAft>
                <a:spcPts val="800"/>
              </a:spcAft>
            </a:pPr>
            <a:r>
              <a:rPr sz="1500" b="0">
                <a:solidFill>
                  <a:srgbClr val="1F2933"/>
                </a:solidFill>
                <a:latin typeface="Arial"/>
              </a:rPr>
              <a:t>•  But it finds only about 38% of tomato defects</a:t>
            </a:r>
          </a:p>
          <a:p>
            <a:pPr algn="l">
              <a:spcAft>
                <a:spcPts val="800"/>
              </a:spcAft>
            </a:pPr>
            <a:r>
              <a:rPr sz="1500" b="0">
                <a:solidFill>
                  <a:srgbClr val="1F2933"/>
                </a:solidFill>
                <a:latin typeface="Arial"/>
              </a:rPr>
              <a:t>•  1,313 train files from 459 groups vs 2,110 from 726 for apple</a:t>
            </a:r>
          </a:p>
          <a:p>
            <a:pPr algn="l">
              <a:spcAft>
                <a:spcPts val="800"/>
              </a:spcAft>
            </a:pPr>
            <a:r>
              <a:rPr sz="1500" b="0">
                <a:solidFill>
                  <a:srgbClr val="1F2933"/>
                </a:solidFill>
                <a:latin typeface="Arial"/>
              </a:rPr>
              <a:t>•  Near-duplicate check: 0 of 95 tomato test images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Tomato confusion matrices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25</a:t>
            </a:r>
          </a:p>
        </p:txBody>
      </p:sp>
      <p:pic>
        <p:nvPicPr>
          <p:cNvPr id="6" name="Picture 5" descr="confusion_matrix_normalized.png"/>
          <p:cNvPicPr>
            <a:picLocks noChangeAspect="1"/>
          </p:cNvPicPr>
          <p:nvPr/>
        </p:nvPicPr>
        <p:blipFill>
          <a:blip r:embed="rId3"/>
          <a:stretch>
            <a:fillRect/>
          </a:stretch>
        </p:blipFill>
        <p:spPr>
          <a:xfrm>
            <a:off x="518160" y="1280160"/>
            <a:ext cx="5364480" cy="4023360"/>
          </a:xfrm>
          <a:prstGeom prst="rect">
            <a:avLst/>
          </a:prstGeom>
        </p:spPr>
      </p:pic>
      <p:pic>
        <p:nvPicPr>
          <p:cNvPr id="7" name="Picture 6" descr="confusion_matrix_normalized.png"/>
          <p:cNvPicPr>
            <a:picLocks noChangeAspect="1"/>
          </p:cNvPicPr>
          <p:nvPr/>
        </p:nvPicPr>
        <p:blipFill>
          <a:blip r:embed="rId4"/>
          <a:stretch>
            <a:fillRect/>
          </a:stretch>
        </p:blipFill>
        <p:spPr>
          <a:xfrm>
            <a:off x="6278880" y="1280160"/>
            <a:ext cx="5364480" cy="4023360"/>
          </a:xfrm>
          <a:prstGeom prst="rect">
            <a:avLst/>
          </a:prstGeom>
        </p:spPr>
      </p:pic>
      <p:sp>
        <p:nvSpPr>
          <p:cNvPr id="8" name="TextBox 7"/>
          <p:cNvSpPr txBox="1"/>
          <p:nvPr/>
        </p:nvSpPr>
        <p:spPr>
          <a:xfrm>
            <a:off x="548640" y="5303520"/>
            <a:ext cx="5486400" cy="365760"/>
          </a:xfrm>
          <a:prstGeom prst="rect">
            <a:avLst/>
          </a:prstGeom>
          <a:noFill/>
        </p:spPr>
        <p:txBody>
          <a:bodyPr wrap="square" anchor="t">
            <a:spAutoFit/>
          </a:bodyPr>
          <a:lstStyle/>
          <a:p>
            <a:pPr algn="ctr">
              <a:spcAft>
                <a:spcPts val="800"/>
              </a:spcAft>
            </a:pPr>
            <a:r>
              <a:rPr sz="1300" b="0">
                <a:solidFill>
                  <a:srgbClr val="52606D"/>
                </a:solidFill>
                <a:latin typeface="Arial"/>
              </a:rPr>
              <a:t>Validation (132 images)</a:t>
            </a:r>
          </a:p>
        </p:txBody>
      </p:sp>
      <p:sp>
        <p:nvSpPr>
          <p:cNvPr id="9" name="TextBox 8"/>
          <p:cNvSpPr txBox="1"/>
          <p:nvPr/>
        </p:nvSpPr>
        <p:spPr>
          <a:xfrm>
            <a:off x="6309360" y="5303520"/>
            <a:ext cx="5486400" cy="365760"/>
          </a:xfrm>
          <a:prstGeom prst="rect">
            <a:avLst/>
          </a:prstGeom>
          <a:noFill/>
        </p:spPr>
        <p:txBody>
          <a:bodyPr wrap="square" anchor="t">
            <a:spAutoFit/>
          </a:bodyPr>
          <a:lstStyle/>
          <a:p>
            <a:pPr algn="ctr">
              <a:spcAft>
                <a:spcPts val="800"/>
              </a:spcAft>
            </a:pPr>
            <a:r>
              <a:rPr sz="1300" b="0">
                <a:solidFill>
                  <a:srgbClr val="52606D"/>
                </a:solidFill>
                <a:latin typeface="Arial"/>
              </a:rPr>
              <a:t>Unseen test (95 images)</a:t>
            </a:r>
          </a:p>
        </p:txBody>
      </p:sp>
      <p:sp>
        <p:nvSpPr>
          <p:cNvPr id="10" name="TextBox 9"/>
          <p:cNvSpPr txBox="1"/>
          <p:nvPr/>
        </p:nvSpPr>
        <p:spPr>
          <a:xfrm>
            <a:off x="548640" y="5669280"/>
            <a:ext cx="11155680" cy="731520"/>
          </a:xfrm>
          <a:prstGeom prst="rect">
            <a:avLst/>
          </a:prstGeom>
          <a:noFill/>
        </p:spPr>
        <p:txBody>
          <a:bodyPr wrap="square" anchor="t">
            <a:spAutoFit/>
          </a:bodyPr>
          <a:lstStyle/>
          <a:p>
            <a:pPr algn="l">
              <a:spcAft>
                <a:spcPts val="800"/>
              </a:spcAft>
            </a:pPr>
            <a:r>
              <a:rPr sz="1300" b="0">
                <a:solidFill>
                  <a:srgbClr val="1F2933"/>
                </a:solidFill>
                <a:latin typeface="Arial"/>
              </a:rPr>
              <a:t>On test 52% to 57% of each defect class is missed as background. Defect classes are rarely confused (5% or less). Most false alarms are surface damage.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Tomato: best and worst test images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26</a:t>
            </a:r>
          </a:p>
        </p:txBody>
      </p:sp>
      <p:pic>
        <p:nvPicPr>
          <p:cNvPr id="6" name="Picture 5" descr="tomato_examples.png"/>
          <p:cNvPicPr>
            <a:picLocks noChangeAspect="1"/>
          </p:cNvPicPr>
          <p:nvPr/>
        </p:nvPicPr>
        <p:blipFill>
          <a:blip r:embed="rId3"/>
          <a:stretch>
            <a:fillRect/>
          </a:stretch>
        </p:blipFill>
        <p:spPr>
          <a:xfrm>
            <a:off x="365760" y="1333897"/>
            <a:ext cx="11430000" cy="4098766"/>
          </a:xfrm>
          <a:prstGeom prst="rect">
            <a:avLst/>
          </a:prstGeom>
        </p:spPr>
      </p:pic>
      <p:sp>
        <p:nvSpPr>
          <p:cNvPr id="7" name="TextBox 6"/>
          <p:cNvSpPr txBox="1"/>
          <p:nvPr/>
        </p:nvSpPr>
        <p:spPr>
          <a:xfrm>
            <a:off x="548640" y="5577840"/>
            <a:ext cx="10972800" cy="640080"/>
          </a:xfrm>
          <a:prstGeom prst="rect">
            <a:avLst/>
          </a:prstGeom>
          <a:noFill/>
        </p:spPr>
        <p:txBody>
          <a:bodyPr wrap="square" anchor="t">
            <a:spAutoFit/>
          </a:bodyPr>
          <a:lstStyle/>
          <a:p>
            <a:pPr algn="l">
              <a:spcAft>
                <a:spcPts val="800"/>
              </a:spcAft>
            </a:pPr>
            <a:r>
              <a:rPr sz="1400" b="0">
                <a:solidFill>
                  <a:srgbClr val="52606D"/>
                </a:solidFill>
                <a:latin typeface="Arial"/>
              </a:rPr>
              <a:t>Large rot regions are found with IoU above 0.9. Faint bruises that are only a slight color change are missed.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One model for both fruits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27</a:t>
            </a:r>
          </a:p>
        </p:txBody>
      </p:sp>
      <p:graphicFrame>
        <p:nvGraphicFramePr>
          <p:cNvPr id="6" name="Table 5"/>
          <p:cNvGraphicFramePr>
            <a:graphicFrameLocks noGrp="1"/>
          </p:cNvGraphicFramePr>
          <p:nvPr/>
        </p:nvGraphicFramePr>
        <p:xfrm>
          <a:off x="548640" y="1463040"/>
          <a:ext cx="6949440" cy="1920240"/>
        </p:xfrm>
        <a:graphic>
          <a:graphicData uri="http://schemas.openxmlformats.org/drawingml/2006/table">
            <a:tbl>
              <a:tblPr firstRow="1" bandRow="1">
                <a:tableStyleId>{5C22544A-7EE6-4342-B048-85BDC9FD1C3A}</a:tableStyleId>
              </a:tblPr>
              <a:tblGrid>
                <a:gridCol w="1828800"/>
                <a:gridCol w="1280160"/>
                <a:gridCol w="1280160"/>
                <a:gridCol w="1280160"/>
                <a:gridCol w="1280160"/>
              </a:tblGrid>
              <a:tr h="384048">
                <a:tc>
                  <a:txBody>
                    <a:bodyPr/>
                    <a:lstStyle/>
                    <a:p>
                      <a:pPr algn="l"/>
                      <a:r>
                        <a:rPr sz="1400" b="1">
                          <a:solidFill>
                            <a:srgbClr val="FFFFFF"/>
                          </a:solidFill>
                          <a:latin typeface="Arial"/>
                        </a:rPr>
                        <a:t>Test mask mAP50</a:t>
                      </a:r>
                    </a:p>
                  </a:txBody>
                  <a:tcPr>
                    <a:solidFill>
                      <a:srgbClr val="1F2933"/>
                    </a:solidFill>
                  </a:tcPr>
                </a:tc>
                <a:tc>
                  <a:txBody>
                    <a:bodyPr/>
                    <a:lstStyle/>
                    <a:p>
                      <a:pPr algn="ctr"/>
                      <a:r>
                        <a:rPr sz="1400" b="1">
                          <a:solidFill>
                            <a:srgbClr val="FFFFFF"/>
                          </a:solidFill>
                          <a:latin typeface="Arial"/>
                        </a:rPr>
                        <a:t>Apple sep</a:t>
                      </a:r>
                    </a:p>
                  </a:txBody>
                  <a:tcPr>
                    <a:solidFill>
                      <a:srgbClr val="1F2933"/>
                    </a:solidFill>
                  </a:tcPr>
                </a:tc>
                <a:tc>
                  <a:txBody>
                    <a:bodyPr/>
                    <a:lstStyle/>
                    <a:p>
                      <a:pPr algn="ctr"/>
                      <a:r>
                        <a:rPr sz="1400" b="1">
                          <a:solidFill>
                            <a:srgbClr val="FFFFFF"/>
                          </a:solidFill>
                          <a:latin typeface="Arial"/>
                        </a:rPr>
                        <a:t>Apple comb</a:t>
                      </a:r>
                    </a:p>
                  </a:txBody>
                  <a:tcPr>
                    <a:solidFill>
                      <a:srgbClr val="1F2933"/>
                    </a:solidFill>
                  </a:tcPr>
                </a:tc>
                <a:tc>
                  <a:txBody>
                    <a:bodyPr/>
                    <a:lstStyle/>
                    <a:p>
                      <a:pPr algn="ctr"/>
                      <a:r>
                        <a:rPr sz="1400" b="1">
                          <a:solidFill>
                            <a:srgbClr val="FFFFFF"/>
                          </a:solidFill>
                          <a:latin typeface="Arial"/>
                        </a:rPr>
                        <a:t>Tomato sep</a:t>
                      </a:r>
                    </a:p>
                  </a:txBody>
                  <a:tcPr>
                    <a:solidFill>
                      <a:srgbClr val="1F2933"/>
                    </a:solidFill>
                  </a:tcPr>
                </a:tc>
                <a:tc>
                  <a:txBody>
                    <a:bodyPr/>
                    <a:lstStyle/>
                    <a:p>
                      <a:pPr algn="ctr"/>
                      <a:r>
                        <a:rPr sz="1400" b="1">
                          <a:solidFill>
                            <a:srgbClr val="FFFFFF"/>
                          </a:solidFill>
                          <a:latin typeface="Arial"/>
                        </a:rPr>
                        <a:t>Tomato comb</a:t>
                      </a:r>
                    </a:p>
                  </a:txBody>
                  <a:tcPr>
                    <a:solidFill>
                      <a:srgbClr val="1F2933"/>
                    </a:solidFill>
                  </a:tcPr>
                </a:tc>
              </a:tr>
              <a:tr h="384048">
                <a:tc>
                  <a:txBody>
                    <a:bodyPr/>
                    <a:lstStyle/>
                    <a:p>
                      <a:pPr algn="l"/>
                      <a:r>
                        <a:rPr sz="1400" b="0">
                          <a:solidFill>
                            <a:srgbClr val="1F2933"/>
                          </a:solidFill>
                          <a:latin typeface="Arial"/>
                        </a:rPr>
                        <a:t>Bruise</a:t>
                      </a:r>
                    </a:p>
                  </a:txBody>
                  <a:tcPr>
                    <a:solidFill>
                      <a:srgbClr val="FFFFFF"/>
                    </a:solidFill>
                  </a:tcPr>
                </a:tc>
                <a:tc>
                  <a:txBody>
                    <a:bodyPr/>
                    <a:lstStyle/>
                    <a:p>
                      <a:pPr algn="ctr"/>
                      <a:r>
                        <a:rPr sz="1400" b="0">
                          <a:solidFill>
                            <a:srgbClr val="1F2933"/>
                          </a:solidFill>
                          <a:latin typeface="Arial"/>
                        </a:rPr>
                        <a:t>0.594</a:t>
                      </a:r>
                    </a:p>
                  </a:txBody>
                  <a:tcPr>
                    <a:solidFill>
                      <a:srgbClr val="FFFFFF"/>
                    </a:solidFill>
                  </a:tcPr>
                </a:tc>
                <a:tc>
                  <a:txBody>
                    <a:bodyPr/>
                    <a:lstStyle/>
                    <a:p>
                      <a:pPr algn="ctr"/>
                      <a:r>
                        <a:rPr sz="1400" b="0">
                          <a:solidFill>
                            <a:srgbClr val="1F2933"/>
                          </a:solidFill>
                          <a:latin typeface="Arial"/>
                        </a:rPr>
                        <a:t>0.411</a:t>
                      </a:r>
                    </a:p>
                  </a:txBody>
                  <a:tcPr>
                    <a:solidFill>
                      <a:srgbClr val="FFFFFF"/>
                    </a:solidFill>
                  </a:tcPr>
                </a:tc>
                <a:tc>
                  <a:txBody>
                    <a:bodyPr/>
                    <a:lstStyle/>
                    <a:p>
                      <a:pPr algn="ctr"/>
                      <a:r>
                        <a:rPr sz="1400" b="0">
                          <a:solidFill>
                            <a:srgbClr val="1F2933"/>
                          </a:solidFill>
                          <a:latin typeface="Arial"/>
                        </a:rPr>
                        <a:t>0.388</a:t>
                      </a:r>
                    </a:p>
                  </a:txBody>
                  <a:tcPr>
                    <a:solidFill>
                      <a:srgbClr val="FFFFFF"/>
                    </a:solidFill>
                  </a:tcPr>
                </a:tc>
                <a:tc>
                  <a:txBody>
                    <a:bodyPr/>
                    <a:lstStyle/>
                    <a:p>
                      <a:pPr algn="ctr"/>
                      <a:r>
                        <a:rPr sz="1400" b="0">
                          <a:solidFill>
                            <a:srgbClr val="1F2933"/>
                          </a:solidFill>
                          <a:latin typeface="Arial"/>
                        </a:rPr>
                        <a:t>0.360</a:t>
                      </a:r>
                    </a:p>
                  </a:txBody>
                  <a:tcPr>
                    <a:solidFill>
                      <a:srgbClr val="FFFFFF"/>
                    </a:solidFill>
                  </a:tcPr>
                </a:tc>
              </a:tr>
              <a:tr h="384048">
                <a:tc>
                  <a:txBody>
                    <a:bodyPr/>
                    <a:lstStyle/>
                    <a:p>
                      <a:pPr algn="l"/>
                      <a:r>
                        <a:rPr sz="1400" b="0">
                          <a:solidFill>
                            <a:srgbClr val="1F2933"/>
                          </a:solidFill>
                          <a:latin typeface="Arial"/>
                        </a:rPr>
                        <a:t>Rot</a:t>
                      </a:r>
                    </a:p>
                  </a:txBody>
                  <a:tcPr>
                    <a:solidFill>
                      <a:srgbClr val="F5F7FA"/>
                    </a:solidFill>
                  </a:tcPr>
                </a:tc>
                <a:tc>
                  <a:txBody>
                    <a:bodyPr/>
                    <a:lstStyle/>
                    <a:p>
                      <a:pPr algn="ctr"/>
                      <a:r>
                        <a:rPr sz="1400" b="0">
                          <a:solidFill>
                            <a:srgbClr val="1F2933"/>
                          </a:solidFill>
                          <a:latin typeface="Arial"/>
                        </a:rPr>
                        <a:t>0.732</a:t>
                      </a:r>
                    </a:p>
                  </a:txBody>
                  <a:tcPr>
                    <a:solidFill>
                      <a:srgbClr val="F5F7FA"/>
                    </a:solidFill>
                  </a:tcPr>
                </a:tc>
                <a:tc>
                  <a:txBody>
                    <a:bodyPr/>
                    <a:lstStyle/>
                    <a:p>
                      <a:pPr algn="ctr"/>
                      <a:r>
                        <a:rPr sz="1400" b="0">
                          <a:solidFill>
                            <a:srgbClr val="1F2933"/>
                          </a:solidFill>
                          <a:latin typeface="Arial"/>
                        </a:rPr>
                        <a:t>0.849</a:t>
                      </a:r>
                    </a:p>
                  </a:txBody>
                  <a:tcPr>
                    <a:solidFill>
                      <a:srgbClr val="F5F7FA"/>
                    </a:solidFill>
                  </a:tcPr>
                </a:tc>
                <a:tc>
                  <a:txBody>
                    <a:bodyPr/>
                    <a:lstStyle/>
                    <a:p>
                      <a:pPr algn="ctr"/>
                      <a:r>
                        <a:rPr sz="1400" b="0">
                          <a:solidFill>
                            <a:srgbClr val="1F2933"/>
                          </a:solidFill>
                          <a:latin typeface="Arial"/>
                        </a:rPr>
                        <a:t>0.477</a:t>
                      </a:r>
                    </a:p>
                  </a:txBody>
                  <a:tcPr>
                    <a:solidFill>
                      <a:srgbClr val="F5F7FA"/>
                    </a:solidFill>
                  </a:tcPr>
                </a:tc>
                <a:tc>
                  <a:txBody>
                    <a:bodyPr/>
                    <a:lstStyle/>
                    <a:p>
                      <a:pPr algn="ctr"/>
                      <a:r>
                        <a:rPr sz="1400" b="0">
                          <a:solidFill>
                            <a:srgbClr val="1F2933"/>
                          </a:solidFill>
                          <a:latin typeface="Arial"/>
                        </a:rPr>
                        <a:t>0.442</a:t>
                      </a:r>
                    </a:p>
                  </a:txBody>
                  <a:tcPr>
                    <a:solidFill>
                      <a:srgbClr val="F5F7FA"/>
                    </a:solidFill>
                  </a:tcPr>
                </a:tc>
              </a:tr>
              <a:tr h="384048">
                <a:tc>
                  <a:txBody>
                    <a:bodyPr/>
                    <a:lstStyle/>
                    <a:p>
                      <a:pPr algn="l"/>
                      <a:r>
                        <a:rPr sz="1400" b="0">
                          <a:solidFill>
                            <a:srgbClr val="1F2933"/>
                          </a:solidFill>
                          <a:latin typeface="Arial"/>
                        </a:rPr>
                        <a:t>Surface</a:t>
                      </a:r>
                    </a:p>
                  </a:txBody>
                  <a:tcPr>
                    <a:solidFill>
                      <a:srgbClr val="FFFFFF"/>
                    </a:solidFill>
                  </a:tcPr>
                </a:tc>
                <a:tc>
                  <a:txBody>
                    <a:bodyPr/>
                    <a:lstStyle/>
                    <a:p>
                      <a:pPr algn="ctr"/>
                      <a:r>
                        <a:rPr sz="1400" b="0">
                          <a:solidFill>
                            <a:srgbClr val="1F2933"/>
                          </a:solidFill>
                          <a:latin typeface="Arial"/>
                        </a:rPr>
                        <a:t>0.511</a:t>
                      </a:r>
                    </a:p>
                  </a:txBody>
                  <a:tcPr>
                    <a:solidFill>
                      <a:srgbClr val="FFFFFF"/>
                    </a:solidFill>
                  </a:tcPr>
                </a:tc>
                <a:tc>
                  <a:txBody>
                    <a:bodyPr/>
                    <a:lstStyle/>
                    <a:p>
                      <a:pPr algn="ctr"/>
                      <a:r>
                        <a:rPr sz="1400" b="0">
                          <a:solidFill>
                            <a:srgbClr val="1F2933"/>
                          </a:solidFill>
                          <a:latin typeface="Arial"/>
                        </a:rPr>
                        <a:t>0.497</a:t>
                      </a:r>
                    </a:p>
                  </a:txBody>
                  <a:tcPr>
                    <a:solidFill>
                      <a:srgbClr val="FFFFFF"/>
                    </a:solidFill>
                  </a:tcPr>
                </a:tc>
                <a:tc>
                  <a:txBody>
                    <a:bodyPr/>
                    <a:lstStyle/>
                    <a:p>
                      <a:pPr algn="ctr"/>
                      <a:r>
                        <a:rPr sz="1400" b="0">
                          <a:solidFill>
                            <a:srgbClr val="1F2933"/>
                          </a:solidFill>
                          <a:latin typeface="Arial"/>
                        </a:rPr>
                        <a:t>0.314</a:t>
                      </a:r>
                    </a:p>
                  </a:txBody>
                  <a:tcPr>
                    <a:solidFill>
                      <a:srgbClr val="FFFFFF"/>
                    </a:solidFill>
                  </a:tcPr>
                </a:tc>
                <a:tc>
                  <a:txBody>
                    <a:bodyPr/>
                    <a:lstStyle/>
                    <a:p>
                      <a:pPr algn="ctr"/>
                      <a:r>
                        <a:rPr sz="1400" b="0">
                          <a:solidFill>
                            <a:srgbClr val="1F2933"/>
                          </a:solidFill>
                          <a:latin typeface="Arial"/>
                        </a:rPr>
                        <a:t>0.253</a:t>
                      </a:r>
                    </a:p>
                  </a:txBody>
                  <a:tcPr>
                    <a:solidFill>
                      <a:srgbClr val="FFFFFF"/>
                    </a:solidFill>
                  </a:tcPr>
                </a:tc>
              </a:tr>
              <a:tr h="384048">
                <a:tc>
                  <a:txBody>
                    <a:bodyPr/>
                    <a:lstStyle/>
                    <a:p>
                      <a:pPr algn="l"/>
                      <a:r>
                        <a:rPr sz="1400" b="0">
                          <a:solidFill>
                            <a:srgbClr val="1F2933"/>
                          </a:solidFill>
                          <a:latin typeface="Arial"/>
                        </a:rPr>
                        <a:t>All</a:t>
                      </a:r>
                    </a:p>
                  </a:txBody>
                  <a:tcPr>
                    <a:solidFill>
                      <a:srgbClr val="F5F7FA"/>
                    </a:solidFill>
                  </a:tcPr>
                </a:tc>
                <a:tc>
                  <a:txBody>
                    <a:bodyPr/>
                    <a:lstStyle/>
                    <a:p>
                      <a:pPr algn="ctr"/>
                      <a:r>
                        <a:rPr sz="1400" b="0">
                          <a:solidFill>
                            <a:srgbClr val="1F2933"/>
                          </a:solidFill>
                          <a:latin typeface="Arial"/>
                        </a:rPr>
                        <a:t>0.613</a:t>
                      </a:r>
                    </a:p>
                  </a:txBody>
                  <a:tcPr>
                    <a:solidFill>
                      <a:srgbClr val="F5F7FA"/>
                    </a:solidFill>
                  </a:tcPr>
                </a:tc>
                <a:tc>
                  <a:txBody>
                    <a:bodyPr/>
                    <a:lstStyle/>
                    <a:p>
                      <a:pPr algn="ctr"/>
                      <a:r>
                        <a:rPr sz="1400" b="0">
                          <a:solidFill>
                            <a:srgbClr val="1F2933"/>
                          </a:solidFill>
                          <a:latin typeface="Arial"/>
                        </a:rPr>
                        <a:t>0.586</a:t>
                      </a:r>
                    </a:p>
                  </a:txBody>
                  <a:tcPr>
                    <a:solidFill>
                      <a:srgbClr val="F5F7FA"/>
                    </a:solidFill>
                  </a:tcPr>
                </a:tc>
                <a:tc>
                  <a:txBody>
                    <a:bodyPr/>
                    <a:lstStyle/>
                    <a:p>
                      <a:pPr algn="ctr"/>
                      <a:r>
                        <a:rPr sz="1400" b="0">
                          <a:solidFill>
                            <a:srgbClr val="1F2933"/>
                          </a:solidFill>
                          <a:latin typeface="Arial"/>
                        </a:rPr>
                        <a:t>0.393</a:t>
                      </a:r>
                    </a:p>
                  </a:txBody>
                  <a:tcPr>
                    <a:solidFill>
                      <a:srgbClr val="F5F7FA"/>
                    </a:solidFill>
                  </a:tcPr>
                </a:tc>
                <a:tc>
                  <a:txBody>
                    <a:bodyPr/>
                    <a:lstStyle/>
                    <a:p>
                      <a:pPr algn="ctr"/>
                      <a:r>
                        <a:rPr sz="1400" b="0">
                          <a:solidFill>
                            <a:srgbClr val="1F2933"/>
                          </a:solidFill>
                          <a:latin typeface="Arial"/>
                        </a:rPr>
                        <a:t>0.352</a:t>
                      </a:r>
                    </a:p>
                  </a:txBody>
                  <a:tcPr>
                    <a:solidFill>
                      <a:srgbClr val="F5F7FA"/>
                    </a:solidFill>
                  </a:tcPr>
                </a:tc>
              </a:tr>
            </a:tbl>
          </a:graphicData>
        </a:graphic>
      </p:graphicFrame>
      <p:sp>
        <p:nvSpPr>
          <p:cNvPr id="7" name="TextBox 6"/>
          <p:cNvSpPr txBox="1"/>
          <p:nvPr/>
        </p:nvSpPr>
        <p:spPr>
          <a:xfrm>
            <a:off x="548640" y="3657600"/>
            <a:ext cx="6949440" cy="457200"/>
          </a:xfrm>
          <a:prstGeom prst="rect">
            <a:avLst/>
          </a:prstGeom>
          <a:noFill/>
        </p:spPr>
        <p:txBody>
          <a:bodyPr wrap="square" anchor="t">
            <a:spAutoFit/>
          </a:bodyPr>
          <a:lstStyle/>
          <a:p>
            <a:pPr algn="l">
              <a:spcAft>
                <a:spcPts val="800"/>
              </a:spcAft>
            </a:pPr>
            <a:r>
              <a:rPr sz="1200" b="0">
                <a:solidFill>
                  <a:srgbClr val="52606D"/>
                </a:solidFill>
                <a:latin typeface="Arial"/>
              </a:rPr>
              <a:t>sep = separate model per fruit (Runs 22, 24). comb = one combined model (Runs 25, 26)</a:t>
            </a:r>
          </a:p>
        </p:txBody>
      </p:sp>
      <p:sp>
        <p:nvSpPr>
          <p:cNvPr id="8" name="TextBox 7"/>
          <p:cNvSpPr txBox="1"/>
          <p:nvPr/>
        </p:nvSpPr>
        <p:spPr>
          <a:xfrm>
            <a:off x="7863840" y="1554480"/>
            <a:ext cx="3931920" cy="4572000"/>
          </a:xfrm>
          <a:prstGeom prst="rect">
            <a:avLst/>
          </a:prstGeom>
          <a:noFill/>
        </p:spPr>
        <p:txBody>
          <a:bodyPr wrap="square" anchor="t">
            <a:spAutoFit/>
          </a:bodyPr>
          <a:lstStyle/>
          <a:p>
            <a:pPr algn="l">
              <a:spcAft>
                <a:spcPts val="800"/>
              </a:spcAft>
            </a:pPr>
            <a:r>
              <a:rPr sz="1500" b="0">
                <a:solidFill>
                  <a:srgbClr val="1F2933"/>
                </a:solidFill>
                <a:latin typeface="Arial"/>
              </a:rPr>
              <a:t>•  Level with separate models on validation</a:t>
            </a:r>
          </a:p>
          <a:p>
            <a:pPr algn="l">
              <a:spcAft>
                <a:spcPts val="800"/>
              </a:spcAft>
            </a:pPr>
            <a:r>
              <a:rPr sz="1500" b="0">
                <a:solidFill>
                  <a:srgbClr val="1F2933"/>
                </a:solidFill>
                <a:latin typeface="Arial"/>
              </a:rPr>
              <a:t>•  Slightly lower on test for both fruits</a:t>
            </a:r>
          </a:p>
          <a:p>
            <a:pPr algn="l">
              <a:spcAft>
                <a:spcPts val="800"/>
              </a:spcAft>
            </a:pPr>
            <a:r>
              <a:rPr sz="1500" b="0">
                <a:solidFill>
                  <a:srgbClr val="1F2933"/>
                </a:solidFill>
                <a:latin typeface="Arial"/>
              </a:rPr>
              <a:t>•  Apple rot up, apple bruise down</a:t>
            </a:r>
          </a:p>
          <a:p>
            <a:pPr algn="l">
              <a:spcAft>
                <a:spcPts val="800"/>
              </a:spcAft>
            </a:pPr>
            <a:r>
              <a:rPr sz="1500" b="0">
                <a:solidFill>
                  <a:srgbClr val="1F2933"/>
                </a:solidFill>
                <a:latin typeface="Arial"/>
              </a:rPr>
              <a:t>•  Gaps are within noise of a small test set</a:t>
            </a:r>
          </a:p>
          <a:p>
            <a:pPr algn="l">
              <a:spcAft>
                <a:spcPts val="800"/>
              </a:spcAft>
            </a:pPr>
            <a:r>
              <a:rPr sz="1500" b="0">
                <a:solidFill>
                  <a:srgbClr val="1F2933"/>
                </a:solidFill>
                <a:latin typeface="Arial"/>
              </a:rPr>
              <a:t>•  One model can serve both fruits at a small cost</a:t>
            </a:r>
          </a:p>
        </p:txBody>
      </p:sp>
      <p:pic>
        <p:nvPicPr>
          <p:cNvPr id="9" name="Picture 8" descr="separate_vs_combined.png"/>
          <p:cNvPicPr>
            <a:picLocks noChangeAspect="1"/>
          </p:cNvPicPr>
          <p:nvPr/>
        </p:nvPicPr>
        <p:blipFill>
          <a:blip r:embed="rId3"/>
          <a:stretch>
            <a:fillRect/>
          </a:stretch>
        </p:blipFill>
        <p:spPr>
          <a:xfrm>
            <a:off x="457200" y="4082796"/>
            <a:ext cx="7223760" cy="216712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Good predictions on clean test images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28</a:t>
            </a:r>
          </a:p>
        </p:txBody>
      </p:sp>
      <p:pic>
        <p:nvPicPr>
          <p:cNvPr id="6" name="Picture 5" descr="good_predictions.png"/>
          <p:cNvPicPr>
            <a:picLocks noChangeAspect="1"/>
          </p:cNvPicPr>
          <p:nvPr/>
        </p:nvPicPr>
        <p:blipFill>
          <a:blip r:embed="rId3"/>
          <a:stretch>
            <a:fillRect/>
          </a:stretch>
        </p:blipFill>
        <p:spPr>
          <a:xfrm>
            <a:off x="556659" y="1280160"/>
            <a:ext cx="11048202" cy="4663440"/>
          </a:xfrm>
          <a:prstGeom prst="rect">
            <a:avLst/>
          </a:prstGeom>
        </p:spPr>
      </p:pic>
      <p:sp>
        <p:nvSpPr>
          <p:cNvPr id="7" name="TextBox 6"/>
          <p:cNvSpPr txBox="1"/>
          <p:nvPr/>
        </p:nvSpPr>
        <p:spPr>
          <a:xfrm>
            <a:off x="548640" y="5943600"/>
            <a:ext cx="10972800" cy="365760"/>
          </a:xfrm>
          <a:prstGeom prst="rect">
            <a:avLst/>
          </a:prstGeom>
          <a:noFill/>
        </p:spPr>
        <p:txBody>
          <a:bodyPr wrap="square" anchor="t">
            <a:spAutoFit/>
          </a:bodyPr>
          <a:lstStyle/>
          <a:p>
            <a:pPr algn="l">
              <a:spcAft>
                <a:spcPts val="800"/>
              </a:spcAft>
            </a:pPr>
            <a:r>
              <a:rPr sz="1300" b="0">
                <a:solidFill>
                  <a:srgbClr val="52606D"/>
                </a:solidFill>
                <a:latin typeface="Arial"/>
              </a:rPr>
              <a:t>Test images. Mean per-image pixel IoU over 62 test images with a defect: 0.583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Failure cases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29</a:t>
            </a:r>
          </a:p>
        </p:txBody>
      </p:sp>
      <p:pic>
        <p:nvPicPr>
          <p:cNvPr id="6" name="Picture 5" descr="failure_cases.png"/>
          <p:cNvPicPr>
            <a:picLocks noChangeAspect="1"/>
          </p:cNvPicPr>
          <p:nvPr/>
        </p:nvPicPr>
        <p:blipFill>
          <a:blip r:embed="rId3"/>
          <a:stretch>
            <a:fillRect/>
          </a:stretch>
        </p:blipFill>
        <p:spPr>
          <a:xfrm>
            <a:off x="365760" y="2043659"/>
            <a:ext cx="7863840" cy="3319322"/>
          </a:xfrm>
          <a:prstGeom prst="rect">
            <a:avLst/>
          </a:prstGeom>
        </p:spPr>
      </p:pic>
      <p:sp>
        <p:nvSpPr>
          <p:cNvPr id="7" name="TextBox 6"/>
          <p:cNvSpPr txBox="1"/>
          <p:nvPr/>
        </p:nvSpPr>
        <p:spPr>
          <a:xfrm>
            <a:off x="8412480" y="1554480"/>
            <a:ext cx="3383280" cy="4389120"/>
          </a:xfrm>
          <a:prstGeom prst="rect">
            <a:avLst/>
          </a:prstGeom>
          <a:noFill/>
        </p:spPr>
        <p:txBody>
          <a:bodyPr wrap="square" anchor="t">
            <a:spAutoFit/>
          </a:bodyPr>
          <a:lstStyle/>
          <a:p>
            <a:pPr algn="l">
              <a:spcAft>
                <a:spcPts val="800"/>
              </a:spcAft>
            </a:pPr>
            <a:r>
              <a:rPr sz="1600" b="0">
                <a:solidFill>
                  <a:srgbClr val="1F2933"/>
                </a:solidFill>
                <a:latin typeface="Arial"/>
              </a:rPr>
              <a:t>•  Rot predicted as bruise on a discolored apple</a:t>
            </a:r>
          </a:p>
          <a:p>
            <a:pPr algn="l">
              <a:spcAft>
                <a:spcPts val="800"/>
              </a:spcAft>
            </a:pPr>
            <a:r>
              <a:rPr sz="1600" b="0">
                <a:solidFill>
                  <a:srgbClr val="1F2933"/>
                </a:solidFill>
                <a:latin typeface="Arial"/>
              </a:rPr>
              <a:t>•  Whole-fruit rot label not found by the model</a:t>
            </a:r>
          </a:p>
          <a:p>
            <a:pPr algn="l">
              <a:spcAft>
                <a:spcPts val="800"/>
              </a:spcAft>
            </a:pPr>
            <a:r>
              <a:rPr sz="1600" b="0">
                <a:solidFill>
                  <a:srgbClr val="1F2933"/>
                </a:solidFill>
                <a:latin typeface="Arial"/>
              </a:rPr>
              <a:t>•  Tiny surface damage missed</a:t>
            </a:r>
          </a:p>
          <a:p>
            <a:pPr algn="l">
              <a:spcAft>
                <a:spcPts val="800"/>
              </a:spcAft>
            </a:pPr>
            <a:r>
              <a:rPr sz="1600" b="0">
                <a:solidFill>
                  <a:srgbClr val="1F2933"/>
                </a:solidFill>
                <a:latin typeface="Arial"/>
              </a:rPr>
              <a:t>•  Edge mark predicted as surface damage on clean skin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Web application (Streamlit)</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30</a:t>
            </a:r>
          </a:p>
        </p:txBody>
      </p:sp>
      <p:pic>
        <p:nvPicPr>
          <p:cNvPr id="6" name="Picture 5" descr="app_screenshot.png"/>
          <p:cNvPicPr>
            <a:picLocks noChangeAspect="1"/>
          </p:cNvPicPr>
          <p:nvPr/>
        </p:nvPicPr>
        <p:blipFill>
          <a:blip r:embed="rId3"/>
          <a:stretch>
            <a:fillRect/>
          </a:stretch>
        </p:blipFill>
        <p:spPr>
          <a:xfrm>
            <a:off x="1045597" y="1280160"/>
            <a:ext cx="6321286" cy="4846320"/>
          </a:xfrm>
          <a:prstGeom prst="rect">
            <a:avLst/>
          </a:prstGeom>
        </p:spPr>
      </p:pic>
      <p:sp>
        <p:nvSpPr>
          <p:cNvPr id="7" name="TextBox 6"/>
          <p:cNvSpPr txBox="1"/>
          <p:nvPr/>
        </p:nvSpPr>
        <p:spPr>
          <a:xfrm>
            <a:off x="8138160" y="1463040"/>
            <a:ext cx="3566160" cy="4572000"/>
          </a:xfrm>
          <a:prstGeom prst="rect">
            <a:avLst/>
          </a:prstGeom>
          <a:noFill/>
        </p:spPr>
        <p:txBody>
          <a:bodyPr wrap="square" anchor="t">
            <a:spAutoFit/>
          </a:bodyPr>
          <a:lstStyle/>
          <a:p>
            <a:pPr algn="l">
              <a:spcAft>
                <a:spcPts val="800"/>
              </a:spcAft>
            </a:pPr>
            <a:r>
              <a:rPr sz="1500" b="0">
                <a:solidFill>
                  <a:srgbClr val="1F2933"/>
                </a:solidFill>
                <a:latin typeface="Arial"/>
              </a:rPr>
              <a:t>•  Pick apple, tomato or the combined model</a:t>
            </a:r>
          </a:p>
          <a:p>
            <a:pPr algn="l">
              <a:spcAft>
                <a:spcPts val="800"/>
              </a:spcAft>
            </a:pPr>
            <a:r>
              <a:rPr sz="1500" b="0">
                <a:solidFill>
                  <a:srgbClr val="1F2933"/>
                </a:solidFill>
                <a:latin typeface="Arial"/>
              </a:rPr>
              <a:t>•  Upload a photo or use a sample</a:t>
            </a:r>
          </a:p>
          <a:p>
            <a:pPr algn="l">
              <a:spcAft>
                <a:spcPts val="800"/>
              </a:spcAft>
            </a:pPr>
            <a:r>
              <a:rPr sz="1500" b="0">
                <a:solidFill>
                  <a:srgbClr val="1F2933"/>
                </a:solidFill>
                <a:latin typeface="Arial"/>
              </a:rPr>
              <a:t>•  Colored masks with a legend</a:t>
            </a:r>
          </a:p>
          <a:p>
            <a:pPr algn="l">
              <a:spcAft>
                <a:spcPts val="800"/>
              </a:spcAft>
            </a:pPr>
            <a:r>
              <a:rPr sz="1500" b="0">
                <a:solidFill>
                  <a:srgbClr val="1F2933"/>
                </a:solidFill>
                <a:latin typeface="Arial"/>
              </a:rPr>
              <a:t>•  Defect share of the image and of the fruit</a:t>
            </a:r>
          </a:p>
          <a:p>
            <a:pPr algn="l">
              <a:spcAft>
                <a:spcPts val="800"/>
              </a:spcAft>
            </a:pPr>
            <a:r>
              <a:rPr sz="1500" b="0">
                <a:solidFill>
                  <a:srgbClr val="1F2933"/>
                </a:solidFill>
                <a:latin typeface="Arial"/>
              </a:rPr>
              <a:t>•  Confidence slider and class toggles</a:t>
            </a:r>
          </a:p>
          <a:p>
            <a:pPr algn="l">
              <a:spcAft>
                <a:spcPts val="800"/>
              </a:spcAft>
            </a:pPr>
            <a:r>
              <a:rPr sz="1500" b="0">
                <a:solidFill>
                  <a:srgbClr val="1F2933"/>
                </a:solidFill>
                <a:latin typeface="Arial"/>
              </a:rPr>
              <a:t>•  Download the result as PNG</a:t>
            </a:r>
          </a:p>
          <a:p>
            <a:pPr algn="l">
              <a:spcAft>
                <a:spcPts val="800"/>
              </a:spcAft>
            </a:pPr>
            <a:r>
              <a:rPr sz="1500" b="0">
                <a:solidFill>
                  <a:srgbClr val="1F2933"/>
                </a:solidFill>
                <a:latin typeface="Arial"/>
              </a:rPr>
              <a:t>•  Clear messages for bad files or no defects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Limitations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31</a:t>
            </a:r>
          </a:p>
        </p:txBody>
      </p:sp>
      <p:sp>
        <p:nvSpPr>
          <p:cNvPr id="6" name="TextBox 5"/>
          <p:cNvSpPr txBox="1"/>
          <p:nvPr/>
        </p:nvSpPr>
        <p:spPr>
          <a:xfrm>
            <a:off x="548640" y="1463040"/>
            <a:ext cx="10972800" cy="4572000"/>
          </a:xfrm>
          <a:prstGeom prst="rect">
            <a:avLst/>
          </a:prstGeom>
          <a:noFill/>
        </p:spPr>
        <p:txBody>
          <a:bodyPr wrap="square" anchor="t">
            <a:spAutoFit/>
          </a:bodyPr>
          <a:lstStyle/>
          <a:p>
            <a:pPr algn="l">
              <a:spcAft>
                <a:spcPts val="800"/>
              </a:spcAft>
            </a:pPr>
            <a:r>
              <a:rPr sz="1700" b="0">
                <a:solidFill>
                  <a:srgbClr val="1F2933"/>
                </a:solidFill>
                <a:latin typeface="Arial"/>
              </a:rPr>
              <a:t>•  Labels describe appearance only. The model does not diagnose disease or internal damage</a:t>
            </a:r>
          </a:p>
          <a:p>
            <a:pPr algn="l">
              <a:spcAft>
                <a:spcPts val="800"/>
              </a:spcAft>
            </a:pPr>
            <a:r>
              <a:rPr sz="1700" b="0">
                <a:solidFill>
                  <a:srgbClr val="1F2933"/>
                </a:solidFill>
                <a:latin typeface="Arial"/>
              </a:rPr>
              <a:t>•  Few image sources with mostly plain backgrounds</a:t>
            </a:r>
          </a:p>
          <a:p>
            <a:pPr algn="l">
              <a:spcAft>
                <a:spcPts val="800"/>
              </a:spcAft>
            </a:pPr>
            <a:r>
              <a:rPr sz="1700" b="0">
                <a:solidFill>
                  <a:srgbClr val="1F2933"/>
                </a:solidFill>
                <a:latin typeface="Arial"/>
              </a:rPr>
              <a:t>•  Small surface damage remains hard and lowers recall</a:t>
            </a:r>
          </a:p>
          <a:p>
            <a:pPr algn="l">
              <a:spcAft>
                <a:spcPts val="800"/>
              </a:spcAft>
            </a:pPr>
            <a:r>
              <a:rPr sz="1700" b="0">
                <a:solidFill>
                  <a:srgbClr val="1F2933"/>
                </a:solidFill>
                <a:latin typeface="Arial"/>
              </a:rPr>
              <a:t>•  Two-stage gain is not isolated from model size and settings</a:t>
            </a:r>
          </a:p>
          <a:p>
            <a:pPr algn="l">
              <a:spcAft>
                <a:spcPts val="800"/>
              </a:spcAft>
            </a:pPr>
            <a:r>
              <a:rPr sz="1700" b="0">
                <a:solidFill>
                  <a:srgbClr val="1F2933"/>
                </a:solidFill>
                <a:latin typeface="Arial"/>
              </a:rPr>
              <a:t>•  Repeated Lab2Wild views of one apple crossed splits. Clean test mAP50 is 0.504</a:t>
            </a:r>
          </a:p>
          <a:p>
            <a:pPr algn="l">
              <a:spcAft>
                <a:spcPts val="800"/>
              </a:spcAft>
            </a:pPr>
            <a:r>
              <a:rPr sz="1700" b="0">
                <a:solidFill>
                  <a:srgbClr val="1F2933"/>
                </a:solidFill>
                <a:latin typeface="Arial"/>
              </a:rPr>
              <a:t>•  One annotator per image with review. No formal agreement score yet</a:t>
            </a:r>
          </a:p>
          <a:p>
            <a:pPr algn="l">
              <a:spcAft>
                <a:spcPts val="800"/>
              </a:spcAft>
            </a:pPr>
            <a:r>
              <a:rPr sz="1700" b="0">
                <a:solidFill>
                  <a:srgbClr val="1F2933"/>
                </a:solidFill>
                <a:latin typeface="Arial"/>
              </a:rPr>
              <a:t>•  Tomato recall is low: about half of its defects are missed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Conclusion and future work</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32</a:t>
            </a:r>
          </a:p>
        </p:txBody>
      </p:sp>
      <p:sp>
        <p:nvSpPr>
          <p:cNvPr id="6" name="TextBox 5"/>
          <p:cNvSpPr txBox="1"/>
          <p:nvPr/>
        </p:nvSpPr>
        <p:spPr>
          <a:xfrm>
            <a:off x="548640" y="1371600"/>
            <a:ext cx="4572000" cy="457200"/>
          </a:xfrm>
          <a:prstGeom prst="rect">
            <a:avLst/>
          </a:prstGeom>
          <a:noFill/>
        </p:spPr>
        <p:txBody>
          <a:bodyPr wrap="square" anchor="t">
            <a:spAutoFit/>
          </a:bodyPr>
          <a:lstStyle/>
          <a:p>
            <a:pPr algn="l">
              <a:spcAft>
                <a:spcPts val="800"/>
              </a:spcAft>
            </a:pPr>
            <a:r>
              <a:rPr sz="1600" b="1">
                <a:solidFill>
                  <a:srgbClr val="2E7D32"/>
                </a:solidFill>
                <a:latin typeface="Arial"/>
              </a:rPr>
              <a:t>Findings</a:t>
            </a:r>
          </a:p>
        </p:txBody>
      </p:sp>
      <p:sp>
        <p:nvSpPr>
          <p:cNvPr id="7" name="TextBox 6"/>
          <p:cNvSpPr txBox="1"/>
          <p:nvPr/>
        </p:nvSpPr>
        <p:spPr>
          <a:xfrm>
            <a:off x="548640" y="1828800"/>
            <a:ext cx="5486400" cy="4206240"/>
          </a:xfrm>
          <a:prstGeom prst="rect">
            <a:avLst/>
          </a:prstGeom>
          <a:noFill/>
        </p:spPr>
        <p:txBody>
          <a:bodyPr wrap="square" anchor="t">
            <a:spAutoFit/>
          </a:bodyPr>
          <a:lstStyle/>
          <a:p>
            <a:pPr algn="l">
              <a:spcAft>
                <a:spcPts val="800"/>
              </a:spcAft>
            </a:pPr>
            <a:r>
              <a:rPr sz="1600" b="0">
                <a:solidFill>
                  <a:srgbClr val="1F2933"/>
                </a:solidFill>
                <a:latin typeface="Arial"/>
              </a:rPr>
              <a:t>•  Two-stage YOLO26l segments the whole apple almost perfectly</a:t>
            </a:r>
          </a:p>
          <a:p>
            <a:pPr algn="l">
              <a:spcAft>
                <a:spcPts val="800"/>
              </a:spcAft>
            </a:pPr>
            <a:r>
              <a:rPr sz="1600" b="0">
                <a:solidFill>
                  <a:srgbClr val="1F2933"/>
                </a:solidFill>
                <a:latin typeface="Arial"/>
              </a:rPr>
              <a:t>•  Defects reach 0.613 test mask mAP50 and 0.504 without near-duplicates</a:t>
            </a:r>
          </a:p>
          <a:p>
            <a:pPr algn="l">
              <a:spcAft>
                <a:spcPts val="800"/>
              </a:spcAft>
            </a:pPr>
            <a:r>
              <a:rPr sz="1600" b="0">
                <a:solidFill>
                  <a:srgbClr val="1F2933"/>
                </a:solidFill>
                <a:latin typeface="Arial"/>
              </a:rPr>
              <a:t>•  Rot is the most stable class and surface damage the hardest</a:t>
            </a:r>
          </a:p>
          <a:p>
            <a:pPr algn="l">
              <a:spcAft>
                <a:spcPts val="800"/>
              </a:spcAft>
            </a:pPr>
            <a:r>
              <a:rPr sz="1600" b="0">
                <a:solidFill>
                  <a:srgbClr val="1F2933"/>
                </a:solidFill>
                <a:latin typeface="Arial"/>
              </a:rPr>
              <a:t>•  Tomato reaches 0.393 test mAP50 with low recall</a:t>
            </a:r>
          </a:p>
          <a:p>
            <a:pPr algn="l">
              <a:spcAft>
                <a:spcPts val="800"/>
              </a:spcAft>
            </a:pPr>
            <a:r>
              <a:rPr sz="1600" b="0">
                <a:solidFill>
                  <a:srgbClr val="1F2933"/>
                </a:solidFill>
                <a:latin typeface="Arial"/>
              </a:rPr>
              <a:t>•  One combined model is close to two separate models</a:t>
            </a:r>
          </a:p>
          <a:p>
            <a:pPr algn="l">
              <a:spcAft>
                <a:spcPts val="800"/>
              </a:spcAft>
            </a:pPr>
            <a:r>
              <a:rPr sz="1600" b="0">
                <a:solidFill>
                  <a:srgbClr val="1F2933"/>
                </a:solidFill>
                <a:latin typeface="Arial"/>
              </a:rPr>
              <a:t>•  Working upload app for apple and tomato</a:t>
            </a:r>
          </a:p>
        </p:txBody>
      </p:sp>
      <p:sp>
        <p:nvSpPr>
          <p:cNvPr id="8" name="TextBox 7"/>
          <p:cNvSpPr txBox="1"/>
          <p:nvPr/>
        </p:nvSpPr>
        <p:spPr>
          <a:xfrm>
            <a:off x="6309360" y="1828800"/>
            <a:ext cx="5394960" cy="4206240"/>
          </a:xfrm>
          <a:prstGeom prst="rect">
            <a:avLst/>
          </a:prstGeom>
          <a:noFill/>
        </p:spPr>
        <p:txBody>
          <a:bodyPr wrap="square" anchor="t">
            <a:spAutoFit/>
          </a:bodyPr>
          <a:lstStyle/>
          <a:p>
            <a:pPr algn="l">
              <a:spcAft>
                <a:spcPts val="800"/>
              </a:spcAft>
            </a:pPr>
            <a:r>
              <a:rPr sz="1700" b="0">
                <a:solidFill>
                  <a:srgbClr val="1F2933"/>
                </a:solidFill>
                <a:latin typeface="Arial"/>
              </a:rPr>
              <a:t>•  Group by image similarity before splitting</a:t>
            </a:r>
          </a:p>
          <a:p>
            <a:pPr algn="l">
              <a:spcAft>
                <a:spcPts val="800"/>
              </a:spcAft>
            </a:pPr>
            <a:r>
              <a:rPr sz="1700" b="0">
                <a:solidFill>
                  <a:srgbClr val="1F2933"/>
                </a:solidFill>
                <a:latin typeface="Arial"/>
              </a:rPr>
              <a:t>•  More small-defect examples</a:t>
            </a:r>
          </a:p>
          <a:p>
            <a:pPr algn="l">
              <a:spcAft>
                <a:spcPts val="800"/>
              </a:spcAft>
            </a:pPr>
            <a:r>
              <a:rPr sz="1700" b="0">
                <a:solidFill>
                  <a:srgbClr val="1F2933"/>
                </a:solidFill>
                <a:latin typeface="Arial"/>
              </a:rPr>
              <a:t>•  Controlled single-stage baseline with equal settings</a:t>
            </a:r>
          </a:p>
          <a:p>
            <a:pPr algn="l">
              <a:spcAft>
                <a:spcPts val="800"/>
              </a:spcAft>
            </a:pPr>
            <a:r>
              <a:rPr sz="1700" b="0">
                <a:solidFill>
                  <a:srgbClr val="1F2933"/>
                </a:solidFill>
                <a:latin typeface="Arial"/>
              </a:rPr>
              <a:t>•  Test on new sources and lighting</a:t>
            </a:r>
          </a:p>
          <a:p>
            <a:pPr algn="l">
              <a:spcAft>
                <a:spcPts val="800"/>
              </a:spcAft>
            </a:pPr>
            <a:r>
              <a:rPr sz="1700" b="0">
                <a:solidFill>
                  <a:srgbClr val="1F2933"/>
                </a:solidFill>
                <a:latin typeface="Arial"/>
              </a:rPr>
              <a:t>•  Measure agreement between annotators</a:t>
            </a:r>
          </a:p>
        </p:txBody>
      </p:sp>
      <p:sp>
        <p:nvSpPr>
          <p:cNvPr id="9" name="TextBox 8"/>
          <p:cNvSpPr txBox="1"/>
          <p:nvPr/>
        </p:nvSpPr>
        <p:spPr>
          <a:xfrm>
            <a:off x="6309360" y="1371600"/>
            <a:ext cx="4572000" cy="457200"/>
          </a:xfrm>
          <a:prstGeom prst="rect">
            <a:avLst/>
          </a:prstGeom>
          <a:noFill/>
        </p:spPr>
        <p:txBody>
          <a:bodyPr wrap="square" anchor="t">
            <a:spAutoFit/>
          </a:bodyPr>
          <a:lstStyle/>
          <a:p>
            <a:pPr algn="l">
              <a:spcAft>
                <a:spcPts val="800"/>
              </a:spcAft>
            </a:pPr>
            <a:r>
              <a:rPr sz="1600" b="1">
                <a:solidFill>
                  <a:srgbClr val="2E7D32"/>
                </a:solidFill>
                <a:latin typeface="Arial"/>
              </a:rPr>
              <a:t>Next steps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References and AI disclosure</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33</a:t>
            </a:r>
          </a:p>
        </p:txBody>
      </p:sp>
      <p:sp>
        <p:nvSpPr>
          <p:cNvPr id="6" name="TextBox 5"/>
          <p:cNvSpPr txBox="1"/>
          <p:nvPr/>
        </p:nvSpPr>
        <p:spPr>
          <a:xfrm>
            <a:off x="548640" y="1371600"/>
            <a:ext cx="11064240" cy="3840480"/>
          </a:xfrm>
          <a:prstGeom prst="rect">
            <a:avLst/>
          </a:prstGeom>
          <a:noFill/>
        </p:spPr>
        <p:txBody>
          <a:bodyPr wrap="square" anchor="t">
            <a:spAutoFit/>
          </a:bodyPr>
          <a:lstStyle/>
          <a:p>
            <a:pPr algn="l">
              <a:spcAft>
                <a:spcPts val="800"/>
              </a:spcAft>
            </a:pPr>
            <a:r>
              <a:rPr sz="1400" b="0">
                <a:solidFill>
                  <a:srgbClr val="1F2933"/>
                </a:solidFill>
                <a:latin typeface="Arial"/>
              </a:rPr>
              <a:t>[1] Mojumdar et al., AFruitDB, Data in Brief 59, 2025</a:t>
            </a:r>
          </a:p>
          <a:p>
            <a:pPr algn="l">
              <a:spcAft>
                <a:spcPts val="800"/>
              </a:spcAft>
            </a:pPr>
            <a:r>
              <a:rPr sz="1400" b="0">
                <a:solidFill>
                  <a:srgbClr val="1F2933"/>
                </a:solidFill>
                <a:latin typeface="Arial"/>
              </a:rPr>
              <a:t>[5] Leiva, Rebeaud, Christen, apple scab with YOLO11, Plant Methods 22, 2026</a:t>
            </a:r>
          </a:p>
          <a:p>
            <a:pPr algn="l">
              <a:spcAft>
                <a:spcPts val="800"/>
              </a:spcAft>
            </a:pPr>
            <a:r>
              <a:rPr sz="1400" b="0">
                <a:solidFill>
                  <a:srgbClr val="1F2933"/>
                </a:solidFill>
                <a:latin typeface="Arial"/>
              </a:rPr>
              <a:t>[7] Kirillov et al., Segment Anything, ICCV 2023</a:t>
            </a:r>
          </a:p>
          <a:p>
            <a:pPr algn="l">
              <a:spcAft>
                <a:spcPts val="800"/>
              </a:spcAft>
            </a:pPr>
            <a:r>
              <a:rPr sz="1400" b="0">
                <a:solidFill>
                  <a:srgbClr val="1F2933"/>
                </a:solidFill>
                <a:latin typeface="Arial"/>
              </a:rPr>
              <a:t>[9] Nesteruk, Apple rotting segmentation problem in the wild, Kaggle, CC BY-NC-SA 4.0</a:t>
            </a:r>
          </a:p>
          <a:p>
            <a:pPr algn="l">
              <a:spcAft>
                <a:spcPts val="800"/>
              </a:spcAft>
            </a:pPr>
            <a:r>
              <a:rPr sz="1400" b="0">
                <a:solidFill>
                  <a:srgbClr val="1F2933"/>
                </a:solidFill>
                <a:latin typeface="Arial"/>
              </a:rPr>
              <a:t>[11] Ultralytics, YOLO26 documentation, 2026</a:t>
            </a:r>
          </a:p>
          <a:p>
            <a:pPr algn="l">
              <a:spcAft>
                <a:spcPts val="800"/>
              </a:spcAft>
            </a:pPr>
            <a:r>
              <a:rPr sz="1400" b="0">
                <a:solidFill>
                  <a:srgbClr val="1F2933"/>
                </a:solidFill>
                <a:latin typeface="Arial"/>
              </a:rPr>
              <a:t>Full IEEE reference list in the paper</a:t>
            </a:r>
          </a:p>
        </p:txBody>
      </p:sp>
      <p:sp>
        <p:nvSpPr>
          <p:cNvPr id="7" name="TextBox 6"/>
          <p:cNvSpPr txBox="1"/>
          <p:nvPr/>
        </p:nvSpPr>
        <p:spPr>
          <a:xfrm>
            <a:off x="548640" y="4846320"/>
            <a:ext cx="11064240" cy="1371600"/>
          </a:xfrm>
          <a:prstGeom prst="rect">
            <a:avLst/>
          </a:prstGeom>
          <a:noFill/>
        </p:spPr>
        <p:txBody>
          <a:bodyPr wrap="square" anchor="t">
            <a:spAutoFit/>
          </a:bodyPr>
          <a:lstStyle/>
          <a:p>
            <a:pPr algn="l">
              <a:spcAft>
                <a:spcPts val="800"/>
              </a:spcAft>
            </a:pPr>
            <a:r>
              <a:rPr sz="1300" b="0">
                <a:solidFill>
                  <a:srgbClr val="52606D"/>
                </a:solidFill>
                <a:latin typeface="Arial"/>
              </a:rPr>
              <a:t>AI tools used: Claude (Anthropic) and OpenAI Codex for planning, explanation and code scaffolding. All outputs were checked by the team. Full transcripts are included in the submission.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